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0e39e8ef0641fb" /><Relationship Type="http://schemas.openxmlformats.org/officeDocument/2006/relationships/extended-properties" Target="/docProps/app.xml" Id="Rf57fb0f675ed4440" /><Relationship Type="http://schemas.openxmlformats.org/officeDocument/2006/relationships/officeDocument" Target="/ppt/presentation.xml" Id="R400e9bac6eac4bbe" /></Relationships>
</file>

<file path=ppt/presentation.xml><?xml version="1.0" encoding="utf-8"?>
<p:presentation xmlns:p="http://schemas.openxmlformats.org/presentationml/2006/main">
  <p:sldMasterIdLst>
    <p:sldMasterId xmlns:r="http://schemas.openxmlformats.org/officeDocument/2006/relationships" id="2147483648" r:id="R67e4822f28e74fc6"/>
  </p:sldMasterIdLst>
  <p:notesMasterIdLst>
    <p:notesMasterId xmlns:r="http://schemas.openxmlformats.org/officeDocument/2006/relationships" r:id="R62748979bd4e47f4"/>
  </p:notesMasterIdLst>
  <p:sldIdLst>
    <p:sldId xmlns:r="http://schemas.openxmlformats.org/officeDocument/2006/relationships" id="256" r:id="R3f5e4c58fb504315"/>
    <p:sldId xmlns:r="http://schemas.openxmlformats.org/officeDocument/2006/relationships" id="257" r:id="R975bc057cac847d3"/>
    <p:sldId xmlns:r="http://schemas.openxmlformats.org/officeDocument/2006/relationships" id="258" r:id="Ra293fd8892c54701"/>
    <p:sldId xmlns:r="http://schemas.openxmlformats.org/officeDocument/2006/relationships" id="259" r:id="R85b2f666fdc94d47"/>
    <p:sldId xmlns:r="http://schemas.openxmlformats.org/officeDocument/2006/relationships" id="260" r:id="R5eb68d7235cf4e10"/>
    <p:sldId xmlns:r="http://schemas.openxmlformats.org/officeDocument/2006/relationships" id="261" r:id="R2ad9590a822a4a5b"/>
    <p:sldId xmlns:r="http://schemas.openxmlformats.org/officeDocument/2006/relationships" id="262" r:id="Re77d4caabcc84523"/>
    <p:sldId xmlns:r="http://schemas.openxmlformats.org/officeDocument/2006/relationships" id="263" r:id="R8360261e61bb475a"/>
    <p:sldId xmlns:r="http://schemas.openxmlformats.org/officeDocument/2006/relationships" id="264" r:id="Rbd6a751349b6423c"/>
    <p:sldId xmlns:r="http://schemas.openxmlformats.org/officeDocument/2006/relationships" id="265" r:id="R77eff53d3e3548a1"/>
    <p:sldId xmlns:r="http://schemas.openxmlformats.org/officeDocument/2006/relationships" id="266" r:id="Rd780ade702824ce9"/>
    <p:sldId xmlns:r="http://schemas.openxmlformats.org/officeDocument/2006/relationships" id="267" r:id="R726c114d4e6a4671"/>
    <p:sldId xmlns:r="http://schemas.openxmlformats.org/officeDocument/2006/relationships" id="268" r:id="Rf270c0ad2438481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533cfd66734736" /><Relationship Type="http://schemas.openxmlformats.org/officeDocument/2006/relationships/slideMaster" Target="/ppt/slideMasters/slideMaster1.xml" Id="R67e4822f28e74fc6" /><Relationship Type="http://schemas.openxmlformats.org/officeDocument/2006/relationships/notesMaster" Target="/ppt/notesMasters/notesMaster1.xml" Id="R62748979bd4e47f4" /><Relationship Type="http://schemas.openxmlformats.org/officeDocument/2006/relationships/presProps" Target="/ppt/presProps.xml" Id="R6a83ce23bbe2457a" /><Relationship Type="http://schemas.openxmlformats.org/officeDocument/2006/relationships/tableStyles" Target="/ppt/tableStyles.xml" Id="R8d020366d59b4ceb" /><Relationship Type="http://schemas.openxmlformats.org/officeDocument/2006/relationships/slide" Target="/ppt/slides/slide1.xml" Id="R3f5e4c58fb504315" /><Relationship Type="http://schemas.openxmlformats.org/officeDocument/2006/relationships/slide" Target="/ppt/slides/slide2.xml" Id="R975bc057cac847d3" /><Relationship Type="http://schemas.openxmlformats.org/officeDocument/2006/relationships/slide" Target="/ppt/slides/slide3.xml" Id="Ra293fd8892c54701" /><Relationship Type="http://schemas.openxmlformats.org/officeDocument/2006/relationships/slide" Target="/ppt/slides/slide4.xml" Id="R85b2f666fdc94d47" /><Relationship Type="http://schemas.openxmlformats.org/officeDocument/2006/relationships/slide" Target="/ppt/slides/slide5.xml" Id="R5eb68d7235cf4e10" /><Relationship Type="http://schemas.openxmlformats.org/officeDocument/2006/relationships/slide" Target="/ppt/slides/slide6.xml" Id="R2ad9590a822a4a5b" /><Relationship Type="http://schemas.openxmlformats.org/officeDocument/2006/relationships/slide" Target="/ppt/slides/slide7.xml" Id="Re77d4caabcc84523" /><Relationship Type="http://schemas.openxmlformats.org/officeDocument/2006/relationships/slide" Target="/ppt/slides/slide8.xml" Id="R8360261e61bb475a" /><Relationship Type="http://schemas.openxmlformats.org/officeDocument/2006/relationships/slide" Target="/ppt/slides/slide9.xml" Id="Rbd6a751349b6423c" /><Relationship Type="http://schemas.openxmlformats.org/officeDocument/2006/relationships/slide" Target="/ppt/slides/slide10.xml" Id="R77eff53d3e3548a1" /><Relationship Type="http://schemas.openxmlformats.org/officeDocument/2006/relationships/slide" Target="/ppt/slides/slide11.xml" Id="Rd780ade702824ce9" /><Relationship Type="http://schemas.openxmlformats.org/officeDocument/2006/relationships/slide" Target="/ppt/slides/slide12.xml" Id="R726c114d4e6a4671" /><Relationship Type="http://schemas.openxmlformats.org/officeDocument/2006/relationships/slide" Target="/ppt/slides/slide13.xml" Id="Rf270c0ad243848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d0f624abc446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c31ab667e34f05" /><Relationship Type="http://schemas.openxmlformats.org/officeDocument/2006/relationships/notesMaster" Target="/ppt/notesMasters/notesMaster1.xml" Id="R31a8a3a3c86346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e019b7ddf14a3f" /><Relationship Type="http://schemas.openxmlformats.org/officeDocument/2006/relationships/notesMaster" Target="/ppt/notesMasters/notesMaster1.xml" Id="R23dbfef922f54d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249aff98d349c4" /><Relationship Type="http://schemas.openxmlformats.org/officeDocument/2006/relationships/notesMaster" Target="/ppt/notesMasters/notesMaster1.xml" Id="R4e1fbbb0ed2e4b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49e159c0644b56" /><Relationship Type="http://schemas.openxmlformats.org/officeDocument/2006/relationships/notesMaster" Target="/ppt/notesMasters/notesMaster1.xml" Id="R805f3cdb79a042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2617f660ec474f" /><Relationship Type="http://schemas.openxmlformats.org/officeDocument/2006/relationships/notesMaster" Target="/ppt/notesMasters/notesMaster1.xml" Id="R2bde1e9f5ae14a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af43c602f14870" /><Relationship Type="http://schemas.openxmlformats.org/officeDocument/2006/relationships/notesMaster" Target="/ppt/notesMasters/notesMaster1.xml" Id="R45f9e29e8cd542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dae87ffd20418f" /><Relationship Type="http://schemas.openxmlformats.org/officeDocument/2006/relationships/notesMaster" Target="/ppt/notesMasters/notesMaster1.xml" Id="R48953716a59e43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5e00ad949b49df" /><Relationship Type="http://schemas.openxmlformats.org/officeDocument/2006/relationships/notesMaster" Target="/ppt/notesMasters/notesMaster1.xml" Id="R43bbdef9f44b46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09b08718b74364" /><Relationship Type="http://schemas.openxmlformats.org/officeDocument/2006/relationships/notesMaster" Target="/ppt/notesMasters/notesMaster1.xml" Id="R80cc288e40b24d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5dcac893604f8f" /><Relationship Type="http://schemas.openxmlformats.org/officeDocument/2006/relationships/notesMaster" Target="/ppt/notesMasters/notesMaster1.xml" Id="Red198bd525b445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0869cb8a8b4e47" /><Relationship Type="http://schemas.openxmlformats.org/officeDocument/2006/relationships/notesMaster" Target="/ppt/notesMasters/notesMaster1.xml" Id="Ree9a0adf53b349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c2e44d4fec41eb" /><Relationship Type="http://schemas.openxmlformats.org/officeDocument/2006/relationships/notesMaster" Target="/ppt/notesMasters/notesMaster1.xml" Id="R6e619d3d4c8f43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9896ac08b044d6" /><Relationship Type="http://schemas.openxmlformats.org/officeDocument/2006/relationships/notesMaster" Target="/ppt/notesMasters/notesMaster1.xml" Id="Rbf5764c3793948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Apresentação V2 nova, preservando apresentações anteriores. Laboratório de 8 de outubro de 2026. A validação evoluiu do resultado simulado para criação real de tag estável e Release GitHub, mantendo a distribuição mobile como aceite futuro. O usuário pediu cenários de rejeição, correção e RC2, logs e lições para o Amulets.</a:t>
            </a:r>
          </a:p>
          <a:p xmlns:a="http://schemas.openxmlformats.org/drawingml/2006/main">
            <a:r>
              <a:t>https://github.com/israelhudson/flutter_code_push_example/releases/tag/v1.5.0</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run da RC2 terminou completed/success. Todos os oito jobs concluíram com sucesso. A API confirmou v1.5.0 no commit b8763ec5adc5e24ce34f474a66a079b48a9ffa0f, igual à RC2. Release ID 407306454, published_at 2026-10-08T22:16:37Z, 19h16 de Fortaleza, draft=false, prerelease=false. A intenção, API e receipt coincidem nos objetos e nas três decisões. RC1/RC2 ficaram preservadas.</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https://github.com/israelhudson/flutter_code_push_example/blob/codex/release-lab-state/release-lab/evidencias/2026-10-08-real-promotion-live/rc2-verified-result-run.json</a:t>
            </a:r>
          </a:p>
          <a:p xmlns:a="http://schemas.openxmlformats.org/drawingml/2006/main">
            <a:r>
              <a:t>https://github.com/israelhudson/flutter_code_push_example/blob/codex/release-lab-state/release-lab/evidencias/2026-10-08-real-promotion-live/12-release-estavel-publicada.jpg</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operador usa main revisada para iniciar o fluxo e informa versão/título legíveis. O helper mantém release/&lt;versão&gt; e cria uma RC imutável. A avaliação usa exatamente a fonte selecionada da release, executa analyze/test/build web, publica bytes verificados e confirma HTTP/changelog antes dos gates. Israel e Fabrícia registram avais em Environments exclusivos. Os dois jobs e receipts precisam passar. Depois, uma das duas contas autoriza PUBLICAR no terceiro Environment. Só o runner final com permissão cria a tag estável/Release e confere o resultado.</a:t>
            </a:r>
          </a:p>
          <a:p xmlns:a="http://schemas.openxmlformats.org/drawingml/2006/main">
            <a:r>
              <a:t>https://github.com/israelhudson/flutter_code_push_example/actions/runs/37851607911</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https://github.com/israelhudson/flutter_code_push_example/blob/codex/release-lab-state/release-lab/evidencias/2026-10-08-real-promotion-live/rc2-verified-result-jobs.json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interface do GitHub permite que um Environment com vários required reviewers seja liberado por um reviewer elegível. Para exigir ambas as contas no LAB, a implementação usa dois Environments exclusivos e jobs dependentes de ambos. aprovacao-israel aceita somente israelhudson, aprovacao-fahnassau30 somente fahnassau30. autorizar-publicacao aceita uma das duas contas, após sucesso dos dois jobs. Permissões de main/release e review técnico do PR são diferentes do aceite da candidata.</a:t>
            </a:r>
          </a:p>
          <a:p xmlns:a="http://schemas.openxmlformats.org/drawingml/2006/main">
            <a:r>
              <a:t>https://github.com/israelhudson/flutter_code_push_example/blob/codex/release-lab-state/release-lab/evidencias/2026-10-08-real-promotion-live/rc2-two-approvals-awaiting-final-pending.json</a:t>
            </a:r>
          </a:p>
          <a:p xmlns:a="http://schemas.openxmlformats.org/drawingml/2006/main">
            <a:r>
              <a:t>https://github.com/israelhudson/flutter_code_push_example/blob/codex/release-lab-state/release-lab/evidencias/2026-10-08-real-promotion-live/rc2-two-approvals-awaiting-final-reviews.json</a:t>
            </a:r>
          </a:p>
          <a:p xmlns:a="http://schemas.openxmlformats.org/drawingml/2006/main">
            <a:r>
              <a:t>https://github.com/israelhudson/flutter_code_push_example/blob/codex/release-lab-state/release-lab/evidencias/2026-10-08-real-promotion-live/rc2-two-approvals-awaiting-final-state.json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texto do botão pertence à interface nativa do GitHub e não pode ser renomeado pelo workflow. Seu efeito depende do Environment selecionado. Em aprovacao-israel ou aprovacao-fahnassau30, o job apenas confere a conta oficial, valida a identidade e grava o receipt de aval. Depois da aprovação da Fabrícia na RC1, Gate second teria apenas registrado aval, mas no ensaio ela rejeitou RC1. Na RC2 ambos os jobs de aval passaram, e a captura mostra que autorizar-publicacao ainda aguardava o terceiro clique. No terceiro Environment o clique autoriza efeitos reais GitHub-only.</a:t>
            </a:r>
          </a:p>
          <a:p xmlns:a="http://schemas.openxmlformats.org/drawingml/2006/main">
            <a:r>
              <a:t>https://docs.github.com/en/actions/how-tos/deploy/configure-and-manage-deployments/review-deployments</a:t>
            </a:r>
          </a:p>
          <a:p xmlns:a="http://schemas.openxmlformats.org/drawingml/2006/main">
            <a:r>
              <a:t>https://github.com/israelhudson/flutter_code_push_example/blob/codex/release-lab-state/release-lab/evidencias/2026-10-08-real-promotion-live/09-rc2-dois-avais-aguardando-publicar.jpg</a:t>
            </a:r>
          </a:p>
          <a:p xmlns:a="http://schemas.openxmlformats.org/drawingml/2006/main">
            <a:r>
              <a:t>https://github.com/israelhudson/flutter_code_push_example/blob/codex/release-lab-state/release-lab/evidencias/2026-10-08-real-promotion-live/rc2-two-approvals-awaiting-final-jobs.json</a:t>
            </a:r>
          </a:p>
          <a:p xmlns:a="http://schemas.openxmlformats.org/drawingml/2006/main">
            <a:r>
              <a:t>https://github.com/israelhudson/flutter_code_push_example/blob/codex/release-lab-state/release-lab/evidencias/2026-10-08-real-promotion-live/rc2-two-approvals-awaiting-final-stable-release.json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a:p xmlns:a="http://schemas.openxmlformats.org/drawingml/2006/main">
            <a:r>
              <a:t>Fonte do detalhe do botão: imagem original anexada por Israel na conversa, codex-clipboard-f0ce0f67-ff6a-4fd3-beb8-fdcb0d7e7706.png. O recorte exibe o label nativo do GitHub. A captura da lista de jobs é do ensaio RC2 e comprova o estado do comando final aguardando.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dos avais, RC2 fixa versão de entrega 1.5.0, tag v1.5.0-rc.2, stable v1.5.0, source b8763ec5adc5e24ce34f474a66a079b48a9ffa0f, tooling 9c4ad37fc415a98ef2a8cfdc5be8d5cf97fe35b0, run/tentativa 1, título, política, modo github_release_only, preview e relatório/changelog. Report digest f322ac38d3d87747dc7a29642a19d9892476bcb642a34f9602ddc910a9624334. Ambos os receipts e comando final vinculam essa identidade. O preview mostra pubspec 1.1.0+2, distinto da versão GitHub 1.5.0. Um preview web não valida Android/iOS ou release-base Shorebird. Alterar fonte/conteúdo exige outra candidata e novos avais.</a:t>
            </a:r>
          </a:p>
          <a:p xmlns:a="http://schemas.openxmlformats.org/drawingml/2006/main">
            <a:r>
              <a:t>https://israelhudson.github.io/flutter_code_push_example/snapshots/b8763ec5adc5e24ce34f474a66a079b48a9ffa0f/</a:t>
            </a:r>
          </a:p>
          <a:p xmlns:a="http://schemas.openxmlformats.org/drawingml/2006/main">
            <a:r>
              <a:t>https://github.com/israelhudson/flutter_code_push_example/blob/codex/release-lab-state/release-lab/evidencias/2026-10-08-real-promotion-live/07-preview-rc2-corrigido.jpg</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Cenário controlado real. RC1 teve um aval Israel e a conta Fabrícia rejeitou, via Safari em automação autorizada, porque a mensagem inicial precisava identificar o laboratório em português. Gate second failure, final e promoção skipped, nenhum stable/Release. O journal ainda mostrava awaiting_approvals porque o helper não roda em gate rejeitado. A conclusão deve conciliar run/reviews, não esse campo isolado. PR 15 mudou só headline para Laboratório de atualizações e expectativa do widget test, target release/1.5.0, CI/review técnica automatizada passaram e merge b8763ec. Novo corte criou RC2, preservou RC1 como superseded, gerou novo preview/report e zero receipts herdados. Novos avais e terceiro comando promoveram RC2. Backport: Correção também integrada à main por PR.</a:t>
            </a:r>
          </a:p>
          <a:p xmlns:a="http://schemas.openxmlformats.org/drawingml/2006/main">
            <a:r>
              <a:t>https://github.com/israelhudson/flutter_code_push_example/pull/15</a:t>
            </a:r>
          </a:p>
          <a:p xmlns:a="http://schemas.openxmlformats.org/drawingml/2006/main">
            <a:r>
              <a:t>https://github.com/israelhudson/flutter_code_push_example/pull/16</a:t>
            </a:r>
          </a:p>
          <a:p xmlns:a="http://schemas.openxmlformats.org/drawingml/2006/main">
            <a:r>
              <a:t>https://github.com/israelhudson/flutter_code_push_example/blob/codex/release-lab-state/release-lab/evidencias/2026-10-08-real-promotion-live/04-rc1-rejeitada-sem-promocao.jpg</a:t>
            </a:r>
          </a:p>
          <a:p xmlns:a="http://schemas.openxmlformats.org/drawingml/2006/main">
            <a:r>
              <a:t>https://github.com/israelhudson/flutter_code_push_example/blob/codex/release-lab-state/release-lab/evidencias/2026-10-08-real-promotion-live/correction-pr-merged.json</a:t>
            </a:r>
          </a:p>
          <a:p xmlns:a="http://schemas.openxmlformats.org/drawingml/2006/main">
            <a:r>
              <a:t>https://github.com/israelhudson/flutter_code_push_example/blob/codex/release-lab-state/release-lab/evidencias/2026-10-08-real-promotion-live/rc2-cut-state.json</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promoção preserva tags RC e cria outro ref estável no mesmo commit aprovado. Nenhuma tag é renomeada, apagada, movida ou force-pushed. Fonte RC1 9c4ad37fc415a98ef2a8cfdc5be8d5cf97fe35b0, RC2 e stable b8763ec5adc5e24ce34f474a66a079b48a9ffa0f. Regras de proteção bloqueiam updates/deletes tanto no namespace RC como no novo namespace v* estável. A Release final não é draft nem prerelease, e título/corpo/changelog correspondem à intenção congelada. Um GET da tag isolado ainda não comprova a Release ou conclusão do workflow.</a:t>
            </a:r>
          </a:p>
          <a:p xmlns:a="http://schemas.openxmlformats.org/drawingml/2006/main">
            <a:r>
              <a:t>https://github.com/israelhudson/flutter_code_push_example/blob/codex/release-lab-state/release-lab/evidencias/2026-10-08-real-promotion-live/rc2-verified-result-rc-refs.json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primários do ensaio remoto. Os testes negativos são PASS quando o GitHub recusa ou bloqueia sem efeitos. Zero e um aval não publicaram. Dois avais liberaram somente terceiro gate. RC1 rejection skip de final. Conta Israel no gate Fabrícia recebeu 422 e não criou review. Rerun da RC1 tentativa 2 falhou prepare antes da avaliação. Versão igual 1.5.0 run 37852613605 e antiga 1.4.0 run 37852617201 falharam prepare por versão já usada/reservada ou anterior à estável, evaluate skipped. Assessments compararam journal exatamente ao baseline completed, sem mudança de tags, Release, ID, corpo, flags ou candidata. Promoção RC2 final concluída em GitHub. Backport consta no slide de correção quando houver merge comprovado.</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https://github.com/israelhudson/flutter_code_push_example/blob/codex/release-lab-state/release-lab/evidencias/2026-10-08-real-promotion-live/same-version-blocked-assessment.json</a:t>
            </a:r>
          </a:p>
          <a:p xmlns:a="http://schemas.openxmlformats.org/drawingml/2006/main">
            <a:r>
              <a:t>https://github.com/israelhudson/flutter_code_push_example/blob/codex/release-lab-state/release-lab/evidencias/2026-10-08-real-promotion-live/old-version-blocked-assessment.json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Suíte final v3: 9 de 9 cenários passaram, 24 testes de promoção e 5 de configuração passaram. Helper real e Git temporário real, com GitHub APIs/reviews/HTTP sintéticos. Isso não efetua rede, Pages, approvals humanas ou Release real. Cenários VAL-01 zero/um/dois sem final, VAL-02 rejeição/correção/RC2, VAL-03 deriva identidade, VAL-04 conflitos, VAL-05 falha parcial/POST perdido/recovery, VAL-06 versão/ator/bot/rerun, VAL-07 CAS concorrente, VAL-08 preview falho, VAL-09 retirada de proteções. Snapshot integrado teve 273 contratos passando no GitHub além de Flutter analyze/test. Nem todos os ramos/falhas desses nove cenários foram executados no serviço GitHub.</a:t>
            </a:r>
          </a:p>
          <a:p xmlns:a="http://schemas.openxmlformats.org/drawingml/2006/main">
            <a:r>
              <a:t>https://github.com/israelhudson/flutter_code_push_example/actions/runs/37850097988</a:t>
            </a:r>
          </a:p>
          <a:p xmlns:a="http://schemas.openxmlformats.org/drawingml/2006/main">
            <a:r>
              <a:t>https://github.com/israelhudson/flutter_code_push_example/blob/codex/release-lab-state/release-lab/evidencias/2026-10-08-real-promotion-offline-v3/summary.json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Fluxo de efeitos usa intenção persistida antes de chamada externa, depois tag exact GET, Release exact GET e receipt final. O publisher reconfere identidade, reviews oficiais, jobs, proteções e attempt1. Tag/Release usam create-only, sem editar/remover objeto existente ou alterar source para contornar erro. Se POST perder resposta, o GET reconcilia objeto esperado. Se somente tag existir, journal registra parcial/failed e não emite recibo completed. Recovery workflow manual em tentativa nova, com tooling original, decisões originais revalidadas e autorização final nova, termina somente o que falta. Nenhuma recuperação foi necessária na promoção real, recovery_authorizations vazio. Falhas parciais/conflicting tags/protections removidas/CAS remain offline. Concurrency release-lab-mutation serializa prepare/effects/recovery, sem lock durante espera humana. Runner do app é readonly, Pages/publisher isolados.</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https://github.com/israelhudson/flutter_code_push_example/blob/main/.github/workflows/release-lab-recover.yml</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Quatro conclusões vermelhas do Actions são negativas esperadas: rejeição da RC1, rerun da RC1 e versões igual/antiga. A API 422 no gate errado é recusa externa esperada, não um job falho. Zero/um/dois avais antes do comando são estados waiting e não erros. Todos os oito jobs RC2 passaram, sem recovery. Erros evitáveis corrigidos: configuração rejeitou defaults seguros required_reviewers=[] e require_extra_approval_for_unattributed_changes=true, normalização explícita e 5 testes resolveram sem bypass. Auditoria encontrou lacuna de reconferir proteções após espera, corrigida em finish_real/live_intent e coberta VAL-09 offline, sem induzir falha destrutiva remota. Fixture de lost-response contava tag histórica entrega-0100-rc.1 no namespace errado, assertion corrigida e histórico preservado. Coletor 422 olhava só stderr/string-int, corrigiu parsing e verificou zero reviews sem repetir request. Exportação do log RC1 devolveu exit1 porque job rejeitado não tinha etapas, preservou 391589 bytes, não alegar que todos os logs exportaram completos. Snapshot promotion-completed-* ainda era in_progress, usar família rc2-verified-result-* como prova terminal. Prevenção: preflight de versão/permissão/ambiente, validação explícita de defaults seguros, regras rechecadas após espera, coletores com tipos normalizados e run_attempt, evidência terminal composta por GET/receipt/jobs.</a:t>
            </a:r>
          </a:p>
          <a:p xmlns:a="http://schemas.openxmlformats.org/drawingml/2006/main">
            <a:r>
              <a:t>https://github.com/israelhudson/flutter_code_push_example/blob/codex/release-lab-state/release-lab/evidencias/2026-10-08-real-promotion-live/FALHAS-E-PREVENCAO.md</a:t>
            </a:r>
          </a:p>
          <a:p xmlns:a="http://schemas.openxmlformats.org/drawingml/2006/main">
            <a:r>
              <a:t>https://github.com/israelhudson/flutter_code_push_example/blob/codex/release-lab-state/release-lab/evidencias/2026-10-08-real-promotion-live/rc1-log-collection.json</a:t>
            </a:r>
          </a:p>
          <a:p xmlns:a="http://schemas.openxmlformats.org/drawingml/2006/main">
            <a:r>
              <a:t>https://github.com/israelhudson/flutter_code_push_example/blob/codex/release-lab-state/release-lab/evidencias/2026-10-08-real-promotion-live/rc2-wrong-account-assessment.json</a:t>
            </a:r>
          </a:p>
          <a:p xmlns:a="http://schemas.openxmlformats.org/drawingml/2006/main">
            <a:r>
              <a:t>https://github.com/israelhudson/flutter_code_push_example/blob/codex/release-lab-state/release-lab/evidencias/2026-10-08-real-promotion-live/rc2-verified-result-run.json</a:t>
            </a:r>
          </a:p>
          <a:p xmlns:a="http://schemas.openxmlformats.org/drawingml/2006/main">
            <a:r>
              <a:t>https://github.com/israelhudson/flutter_code_push_example/blob/codex/release-lab-state/release-lab/evidencias/2026-10-08-real-promotion-live/same-version-blocked-assessment.json</a:t>
            </a:r>
          </a:p>
          <a:p xmlns:a="http://schemas.openxmlformats.org/drawingml/2006/main">
            <a:r>
              <a:t>https://github.com/israelhudson/flutter_code_push_example/blob/codex/release-lab-state/release-lab/evidencias/2026-10-08-real-promotion-live/old-version-blocked-assessment.json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Lições a transportar, sem executar comandos no código Amulets nesta tarefa. Confirmar atores: plano histórico propõe Samuel E Vinícius para aprovação e um dos dois para PUBLICAR, não comprova política final atual. Conferir suporte de required reviewers no repositório privado/plano, revisores técnicos elegíveis, permissões App/token e preview privado. Preservar RC imutável, correction PR release e backport separado main, nova fonte/report/preview/avais. Sem reutilização de approvals. Restringir writers do journal, porque proteção contra force-push/exclusão não impede writer malicioso. Registros devem distinguir operador, conta e aceite humano. Artefatos Actions duram 90 dias neste workflow, exportar logs/reviews/GET/receipts/prints sem segredos. Para mobile, definir versão/build/release-base por plataforma, toolchain e compatibilidade nativa/assets/dependências, adaptador/store/Shorebird, credenciais assinadas e destinos corretos. Depois comprovar upload, testers, instalação no dispositivo, monitoramento/rollback. Nenhum desses resultados foi validado pelo preview ou Release GitHub.</a:t>
            </a:r>
          </a:p>
          <a:p xmlns:a="http://schemas.openxmlformats.org/drawingml/2006/main">
            <a:r>
              <a:t>https://github.com/israelhudson/flutter_code_push_example/blob/codex/release-lab-state/release-lab/evidencias/2026-10-08-real-promotion-live/PASSO-A-PASSO-E-LICOES.md</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https://github.com/israelhudson/flutter_code_push_example/blob/main/docs/delivery/FLUXO-DOIS-APROVADORES.md</a:t>
            </a:r>
          </a:p>
          <a:p xmlns:a="http://schemas.openxmlformats.org/drawingml/2006/main">
            <a:r>
              <a:t>https://github.com/israelhudson/flutter_code_push_example/blob/main/docs/delivery/VALIDACAO-E-PROMOCAO.md</a:t>
            </a:r>
          </a:p>
          <a:p xmlns:a="http://schemas.openxmlformats.org/drawingml/2006/main">
            <a:r>
              <a:t>https://docs.shorebird.dev/code-push/patch/</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cc5677635949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f4f1323e6b48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c5ee4f54b246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09114843ed4a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d29c8c94fe47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f809c2814747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3E38A8-52FA-4C5A-9633-1A8BD2CE1C71}"/>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4E7C91-504E-4593-9063-BB60C871F3FB}"/>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B3E3203-95F6-4B13-AB59-FB68C976A8BA}"/>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8371AC-188A-41B9-A499-A30918405DB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D7A1AF3-06A3-4DE3-A571-360C29DC7CAF}"/>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A5E82A-7D90-41B9-92C0-03EE814D90C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1304A2-FAF3-41E7-81B9-C43B882451A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92C7E5-229D-4B22-B830-5F527D047DE3}"/>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87914B-2F09-47D4-9041-E13708EAE60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A8B20C-C7F1-4D7C-8E6D-5F0FAF727EA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b47ae864ac4544" /><Relationship Type="http://schemas.openxmlformats.org/officeDocument/2006/relationships/slideLayout" Target="/ppt/slideLayouts/slideLayout1.xml" Id="R2101cfc5b5074037" /><Relationship Type="http://schemas.openxmlformats.org/officeDocument/2006/relationships/slideLayout" Target="/ppt/slideLayouts/slideLayout2.xml" Id="Rf6d55928832e425c" /><Relationship Type="http://schemas.openxmlformats.org/officeDocument/2006/relationships/slideLayout" Target="/ppt/slideLayouts/slideLayout3.xml" Id="R927e7a68ed134256" /><Relationship Type="http://schemas.openxmlformats.org/officeDocument/2006/relationships/slideLayout" Target="/ppt/slideLayouts/slideLayout4.xml" Id="R99b4fc75a04b4244" /><Relationship Type="http://schemas.openxmlformats.org/officeDocument/2006/relationships/slideLayout" Target="/ppt/slideLayouts/slideLayout5.xml" Id="R471823e9b69042bf" /><Relationship Type="http://schemas.openxmlformats.org/officeDocument/2006/relationships/slideLayout" Target="/ppt/slideLayouts/slideLayout6.xml" Id="R0290c3a3617c47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01cfc5b5074037"/>
    <p:sldLayoutId xmlns:r="http://schemas.openxmlformats.org/officeDocument/2006/relationships" id="2147483650" r:id="Rf6d55928832e425c"/>
    <p:sldLayoutId xmlns:r="http://schemas.openxmlformats.org/officeDocument/2006/relationships" id="2147483651" r:id="R927e7a68ed134256"/>
    <p:sldLayoutId xmlns:r="http://schemas.openxmlformats.org/officeDocument/2006/relationships" id="2147483652" r:id="R99b4fc75a04b4244"/>
    <p:sldLayoutId xmlns:r="http://schemas.openxmlformats.org/officeDocument/2006/relationships" id="2147483653" r:id="R471823e9b69042bf"/>
    <p:sldLayoutId xmlns:r="http://schemas.openxmlformats.org/officeDocument/2006/relationships" id="2147483654" r:id="R0290c3a3617c47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c5451d330ac48de" /><Relationship Type="http://schemas.openxmlformats.org/officeDocument/2006/relationships/notesSlide" Target="/ppt/notesSlides/notesSlide1.xml" Id="Rfd4f9c9656cb4e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d401e6b1554804" /><Relationship Type="http://schemas.openxmlformats.org/officeDocument/2006/relationships/hyperlink" Target="https://github.com/israelhudson/flutter_code_push_example/releases/tag/v1.5.0" TargetMode="External" Id="Rdbe8ff63f5b2430d" /><Relationship Type="http://schemas.openxmlformats.org/officeDocument/2006/relationships/image" Target="/ppt/media/image.jpeg" Id="Rb194efcb4b134f41" /><Relationship Type="http://schemas.openxmlformats.org/officeDocument/2006/relationships/notesSlide" Target="/ppt/notesSlides/notesSlide2.xml" Id="R62f1c31bfa4047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e8e5d117dd0406e" /><Relationship Type="http://schemas.openxmlformats.org/officeDocument/2006/relationships/notesSlide" Target="/ppt/notesSlides/notesSlide3.xml" Id="R87c97c1ba6aa4e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3ad7ed3a5414e17" /><Relationship Type="http://schemas.openxmlformats.org/officeDocument/2006/relationships/notesSlide" Target="/ppt/notesSlides/notesSlide4.xml" Id="Ra0c903c3ded84d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6dfcebe8d64223" /><Relationship Type="http://schemas.openxmlformats.org/officeDocument/2006/relationships/image" Target="/ppt/media/image2.jpeg" Id="R10df9582f1a74391" /><Relationship Type="http://schemas.openxmlformats.org/officeDocument/2006/relationships/image" Target="/ppt/media/image.png" Id="Rfa355f90de9b48bb" /><Relationship Type="http://schemas.openxmlformats.org/officeDocument/2006/relationships/notesSlide" Target="/ppt/notesSlides/notesSlide5.xml" Id="R84db60d6d1334f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3da26a878c4d2b" /><Relationship Type="http://schemas.openxmlformats.org/officeDocument/2006/relationships/image" Target="/ppt/media/image3.jpeg" Id="R1147101a6e8e4f51" /><Relationship Type="http://schemas.openxmlformats.org/officeDocument/2006/relationships/notesSlide" Target="/ppt/notesSlides/notesSlide6.xml" Id="R343cc3cf2a5349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e72f7b6f734436" /><Relationship Type="http://schemas.openxmlformats.org/officeDocument/2006/relationships/image" Target="/ppt/media/image4.jpeg" Id="R201ac5a7dc7b4751" /><Relationship Type="http://schemas.openxmlformats.org/officeDocument/2006/relationships/notesSlide" Target="/ppt/notesSlides/notesSlide7.xml" Id="R353bd3e66dfe45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257c9d193e41a7" /><Relationship Type="http://schemas.openxmlformats.org/officeDocument/2006/relationships/notesSlide" Target="/ppt/notesSlides/notesSlide8.xml" Id="R83ad870dd6e248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f2285e58c3f437e" /><Relationship Type="http://schemas.openxmlformats.org/officeDocument/2006/relationships/notesSlide" Target="/ppt/notesSlides/notesSlide9.xml" Id="R3962e7d25cc44e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33b4abc482d48eb" /><Relationship Type="http://schemas.openxmlformats.org/officeDocument/2006/relationships/notesSlide" Target="/ppt/notesSlides/notesSlide10.xml" Id="R3aeb0685e8304e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c0dba7a18ad4600" /><Relationship Type="http://schemas.openxmlformats.org/officeDocument/2006/relationships/notesSlide" Target="/ppt/notesSlides/notesSlide11.xml" Id="R3af2b753cf0e42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148ede8a1d64d03" /><Relationship Type="http://schemas.openxmlformats.org/officeDocument/2006/relationships/notesSlide" Target="/ppt/notesSlides/notesSlide12.xml" Id="R65341ee102424a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6cd60a7d3ac48f3" /><Relationship Type="http://schemas.openxmlformats.org/officeDocument/2006/relationships/notesSlide" Target="/ppt/notesSlides/notesSlide13.xml" Id="R2e57d8892f3a4b4f" /></Relationships>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01D387-CE52-4BCA-A96E-3C8D9525EEAA}"/>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Workflow do LAB</a:t>
            </a:r>
          </a:p>
        </p:txBody>
      </p:sp>
      <p:sp>
        <p:nvSpPr>
          <p:cNvPr id="2" name="">
            <a:extLst xmlns:a="http://schemas.openxmlformats.org/drawingml/2006/main">
              <a:ext uri="{FF2B5EF4-FFF2-40B4-BE49-F238E27FC236}">
                <a16:creationId xmlns:a16="http://schemas.microsoft.com/office/drawing/2014/main" id="{0401574F-4B3A-49CE-B152-7FCFFF87926A}"/>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8CCD9"/>
                </a:solidFill>
                <a:latin typeface="Helvetica Neue"/>
                <a:ea typeface="Helvetica Neue"/>
                <a:cs typeface="Helvetica Neue"/>
              </a:defRPr>
            </a:defPPr>
          </a:lstStyle>
          <a:p xmlns:a="http://schemas.openxmlformats.org/drawingml/2006/main">
            <a:pPr algn="r">
              <a:defRPr sz="1500" b="0">
                <a:solidFill>
                  <a:srgbClr val="B8CCD9"/>
                </a:solidFill>
                <a:latin typeface="Helvetica Neue"/>
                <a:ea typeface="Helvetica Neue"/>
                <a:cs typeface="Helvetica Neue"/>
              </a:defRPr>
            </a:pPr>
            <a:r>
              <a:rPr sz="1500" b="0">
                <a:solidFill>
                  <a:srgbClr val="B8CCD9"/>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B82BA3B-36F6-4B4B-A130-76043C3630B5}"/>
              </a:ext>
            </a:extLst>
          </p:cNvPr>
          <p:cNvSpPr>
            <a:spLocks xmlns:a="http://schemas.openxmlformats.org/drawingml/2006/main" noGrp="1"/>
          </p:cNvSpPr>
          <p:nvPr/>
        </p:nvSpPr>
        <p:spPr>
          <a:xfrm xmlns:a="http://schemas.openxmlformats.org/drawingml/2006/main">
            <a:off x="838200" y="2238375"/>
            <a:ext cx="1266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Helvetica Neue"/>
                <a:ea typeface="Helvetica Neue"/>
                <a:cs typeface="Helvetica Neue"/>
              </a:defRPr>
            </a:defPPr>
          </a:lstStyle>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Candidata, aprovação e promoção</a:t>
            </a:r>
          </a:p>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no GitHub</a:t>
            </a:r>
          </a:p>
        </p:txBody>
      </p:sp>
      <p:sp>
        <p:nvSpPr>
          <p:cNvPr id="4" name="">
            <a:extLst xmlns:a="http://schemas.openxmlformats.org/drawingml/2006/main">
              <a:ext uri="{FF2B5EF4-FFF2-40B4-BE49-F238E27FC236}">
                <a16:creationId xmlns:a16="http://schemas.microsoft.com/office/drawing/2014/main" id="{73C453E3-53E4-4270-8AA0-3AEBE76ECF00}"/>
              </a:ext>
            </a:extLst>
          </p:cNvPr>
          <p:cNvSpPr>
            <a:spLocks xmlns:a="http://schemas.openxmlformats.org/drawingml/2006/main" noGrp="1"/>
          </p:cNvSpPr>
          <p:nvPr/>
        </p:nvSpPr>
        <p:spPr>
          <a:xfrm xmlns:a="http://schemas.openxmlformats.org/drawingml/2006/main">
            <a:off x="838200" y="5010150"/>
            <a:ext cx="904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7CE0CF"/>
                </a:solidFill>
                <a:latin typeface="Helvetica Neue"/>
                <a:ea typeface="Helvetica Neue"/>
                <a:cs typeface="Helvetica Neue"/>
              </a:defRPr>
            </a:defPPr>
          </a:lstStyle>
          <a:p xmlns:a="http://schemas.openxmlformats.org/drawingml/2006/main">
            <a:pPr algn="l">
              <a:defRPr sz="3150" b="1">
                <a:solidFill>
                  <a:srgbClr val="7CE0CF"/>
                </a:solidFill>
                <a:latin typeface="Helvetica Neue"/>
                <a:ea typeface="Helvetica Neue"/>
                <a:cs typeface="Helvetica Neue"/>
              </a:defRPr>
            </a:pPr>
            <a:r>
              <a:rPr sz="3150" b="1">
                <a:solidFill>
                  <a:srgbClr val="7CE0CF"/>
                </a:solidFill>
                <a:latin typeface="Helvetica Neue"/>
                <a:ea typeface="Helvetica Neue"/>
                <a:cs typeface="Helvetica Neue"/>
              </a:rPr>
              <a:t>Release real v1.5.0</a:t>
            </a:r>
          </a:p>
        </p:txBody>
      </p:sp>
      <p:sp>
        <p:nvSpPr>
          <p:cNvPr id="5" name="">
            <a:extLst xmlns:a="http://schemas.openxmlformats.org/drawingml/2006/main">
              <a:ext uri="{FF2B5EF4-FFF2-40B4-BE49-F238E27FC236}">
                <a16:creationId xmlns:a16="http://schemas.microsoft.com/office/drawing/2014/main" id="{D9F045C1-8357-4CE1-9D8E-3AF6F7935F1F}"/>
              </a:ext>
            </a:extLst>
          </p:cNvPr>
          <p:cNvSpPr>
            <a:spLocks xmlns:a="http://schemas.openxmlformats.org/drawingml/2006/main" noGrp="1"/>
          </p:cNvSpPr>
          <p:nvPr/>
        </p:nvSpPr>
        <p:spPr>
          <a:xfrm xmlns:a="http://schemas.openxmlformats.org/drawingml/2006/main">
            <a:off x="838200" y="6381750"/>
            <a:ext cx="1143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E1EB"/>
                </a:solidFill>
                <a:latin typeface="Helvetica Neue"/>
                <a:ea typeface="Helvetica Neue"/>
                <a:cs typeface="Helvetica Neue"/>
              </a:defRPr>
            </a:defPPr>
          </a:lstStyle>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Validação e lições para o Amulets</a:t>
            </a:r>
          </a:p>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8 de outubro de 2026</a:t>
            </a:r>
          </a:p>
        </p:txBody>
      </p:sp>
    </p:spTree>
    <p:extLst>
      <p:ext uri="{BB962C8B-B14F-4D97-AF65-F5344CB8AC3E}">
        <p14:creationId xmlns:p14="http://schemas.microsoft.com/office/powerpoint/2010/main" val="1896119666"/>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32C5C0-6D34-4785-B104-E3EFC148205A}"/>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Resultado comprovado</a:t>
            </a:r>
          </a:p>
        </p:txBody>
      </p:sp>
      <p:sp>
        <p:nvSpPr>
          <p:cNvPr id="2" name="">
            <a:extLst xmlns:a="http://schemas.openxmlformats.org/drawingml/2006/main">
              <a:ext uri="{FF2B5EF4-FFF2-40B4-BE49-F238E27FC236}">
                <a16:creationId xmlns:a16="http://schemas.microsoft.com/office/drawing/2014/main" id="{A430AF43-2A6A-4E17-8A0F-3C308A282777}"/>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D9855828-8963-49A1-9C42-A4DBDD3D4AC5}"/>
              </a:ext>
            </a:extLst>
          </p:cNvPr>
          <p:cNvSpPr>
            <a:spLocks xmlns:a="http://schemas.openxmlformats.org/drawingml/2006/main" noGrp="1"/>
          </p:cNvSpPr>
          <p:nvPr/>
        </p:nvSpPr>
        <p:spPr>
          <a:xfrm xmlns:a="http://schemas.openxmlformats.org/drawingml/2006/main">
            <a:off x="838200" y="19050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87F71"/>
                </a:solidFill>
                <a:latin typeface="Helvetica Neue"/>
                <a:ea typeface="Helvetica Neue"/>
                <a:cs typeface="Helvetica Neue"/>
              </a:defRPr>
            </a:defPPr>
          </a:lstStyle>
          <a:p xmlns:a="http://schemas.openxmlformats.org/drawingml/2006/main">
            <a:pPr algn="l">
              <a:defRPr sz="5400" b="1">
                <a:solidFill>
                  <a:srgbClr val="087F71"/>
                </a:solidFill>
                <a:latin typeface="Helvetica Neue"/>
                <a:ea typeface="Helvetica Neue"/>
                <a:cs typeface="Helvetica Neue"/>
              </a:defRPr>
            </a:pPr>
            <a:r>
              <a:rPr sz="5400" b="1">
                <a:solidFill>
                  <a:srgbClr val="087F71"/>
                </a:solidFill>
                <a:latin typeface="Helvetica Neue"/>
                <a:ea typeface="Helvetica Neue"/>
                <a:cs typeface="Helvetica Neue"/>
                <a:hlinkClick xmlns:r="http://schemas.openxmlformats.org/officeDocument/2006/relationships" r:id="Rdbe8ff63f5b2430d"/>
              </a:rPr>
              <a:t>v1.5.0</a:t>
            </a:r>
          </a:p>
        </p:txBody>
      </p:sp>
      <p:sp>
        <p:nvSpPr>
          <p:cNvPr id="4" name="">
            <a:extLst xmlns:a="http://schemas.openxmlformats.org/drawingml/2006/main">
              <a:ext uri="{FF2B5EF4-FFF2-40B4-BE49-F238E27FC236}">
                <a16:creationId xmlns:a16="http://schemas.microsoft.com/office/drawing/2014/main" id="{BA6FCB9E-977D-43A5-9D37-7F0B98181ACF}"/>
              </a:ext>
            </a:extLst>
          </p:cNvPr>
          <p:cNvSpPr>
            <a:spLocks xmlns:a="http://schemas.openxmlformats.org/drawingml/2006/main" noGrp="1"/>
          </p:cNvSpPr>
          <p:nvPr/>
        </p:nvSpPr>
        <p:spPr>
          <a:xfrm xmlns:a="http://schemas.openxmlformats.org/drawingml/2006/main">
            <a:off x="838200" y="308610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2243A"/>
                </a:solidFill>
                <a:latin typeface="Helvetica Neue"/>
                <a:ea typeface="Helvetica Neue"/>
                <a:cs typeface="Helvetica Neue"/>
              </a:defRPr>
            </a:defPPr>
          </a:lstStyle>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Tag estável e Release reais</a:t>
            </a:r>
          </a:p>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no código aprovado da RC2</a:t>
            </a:r>
          </a:p>
        </p:txBody>
      </p:sp>
      <p:sp>
        <p:nvSpPr>
          <p:cNvPr id="5" name="">
            <a:extLst xmlns:a="http://schemas.openxmlformats.org/drawingml/2006/main">
              <a:ext uri="{FF2B5EF4-FFF2-40B4-BE49-F238E27FC236}">
                <a16:creationId xmlns:a16="http://schemas.microsoft.com/office/drawing/2014/main" id="{E0BFFAFC-B05B-4272-BF54-DB991F13D070}"/>
              </a:ext>
            </a:extLst>
          </p:cNvPr>
          <p:cNvSpPr>
            <a:spLocks xmlns:a="http://schemas.openxmlformats.org/drawingml/2006/main" noGrp="1"/>
          </p:cNvSpPr>
          <p:nvPr/>
        </p:nvSpPr>
        <p:spPr>
          <a:xfrm xmlns:a="http://schemas.openxmlformats.org/drawingml/2006/main">
            <a:off x="838200" y="493395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RC1 e RC2 continuam no histórico.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O recibo confirma a publicação.</a:t>
            </a:r>
          </a:p>
        </p:txBody>
      </p:sp>
      <p:pic>
        <p:nvPicPr>
          <p:cNvPr id="6" name="">
            <a:extLst xmlns:a="http://schemas.openxmlformats.org/drawingml/2006/main">
              <a:ext uri="{FF2B5EF4-FFF2-40B4-BE49-F238E27FC236}">
                <a16:creationId xmlns:a16="http://schemas.microsoft.com/office/drawing/2014/main" id="{32C803B7-E5AE-43EB-804F-BD605C9FF21E}"/>
              </a:ext>
            </a:extLst>
          </p:cNvPr>
          <p:cNvPicPr>
            <a:picLocks xmlns:a="http://schemas.openxmlformats.org/drawingml/2006/main" noChangeAspect="1"/>
          </p:cNvPicPr>
          <p:nvPr/>
        </p:nvPicPr>
        <p:blipFill>
          <a:blip xmlns:r="http://schemas.openxmlformats.org/officeDocument/2006/relationships" xmlns:a="http://schemas.openxmlformats.org/drawingml/2006/main" r:embed="Rb194efcb4b134f41"/>
          <a:srcRect xmlns:a="http://schemas.openxmlformats.org/drawingml/2006/main" l="3000" t="18000" r="2500" b="8000"/>
          <a:stretch xmlns:a="http://schemas.openxmlformats.org/drawingml/2006/main"/>
        </p:blipFill>
        <p:spPr>
          <a:xfrm xmlns:a="http://schemas.openxmlformats.org/drawingml/2006/main">
            <a:off x="5810250" y="2190750"/>
            <a:ext cx="8591550" cy="3705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6388CAA-DADE-4B28-AC72-DBE256F636C9}"/>
              </a:ext>
            </a:extLst>
          </p:cNvPr>
          <p:cNvSpPr>
            <a:spLocks xmlns:a="http://schemas.openxmlformats.org/drawingml/2006/main" noGrp="1"/>
          </p:cNvSpPr>
          <p:nvPr/>
        </p:nvSpPr>
        <p:spPr>
          <a:xfrm xmlns:a="http://schemas.openxmlformats.org/drawingml/2006/main">
            <a:off x="838200" y="7315200"/>
            <a:ext cx="1266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Escopo: catálogo GitHub. Aplicativo e patch não distribuídos.</a:t>
            </a:r>
          </a:p>
        </p:txBody>
      </p:sp>
      <p:sp>
        <p:nvSpPr>
          <p:cNvPr id="8" name="">
            <a:extLst xmlns:a="http://schemas.openxmlformats.org/drawingml/2006/main">
              <a:ext uri="{FF2B5EF4-FFF2-40B4-BE49-F238E27FC236}">
                <a16:creationId xmlns:a16="http://schemas.microsoft.com/office/drawing/2014/main" id="{9D943377-65A2-42EF-AE72-AE620E754230}"/>
              </a:ext>
            </a:extLst>
          </p:cNvPr>
          <p:cNvSpPr>
            <a:spLocks xmlns:a="http://schemas.openxmlformats.org/drawingml/2006/main" noGrp="1"/>
          </p:cNvSpPr>
          <p:nvPr/>
        </p:nvSpPr>
        <p:spPr>
          <a:xfrm xmlns:a="http://schemas.openxmlformats.org/drawingml/2006/main">
            <a:off x="838200" y="7753350"/>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A6076"/>
                </a:solidFill>
                <a:latin typeface="Helvetica Neue"/>
                <a:ea typeface="Helvetica Neue"/>
                <a:cs typeface="Helvetica Neue"/>
              </a:defRPr>
            </a:defPPr>
          </a:lstStyle>
          <a:p xmlns:a="http://schemas.openxmlformats.org/drawingml/2006/main">
            <a:pPr algn="l">
              <a:defRPr sz="1725" b="0">
                <a:solidFill>
                  <a:srgbClr val="4A6076"/>
                </a:solidFill>
                <a:latin typeface="Helvetica Neue"/>
                <a:ea typeface="Helvetica Neue"/>
                <a:cs typeface="Helvetica Neue"/>
              </a:defRPr>
            </a:pPr>
            <a:r>
              <a:rPr sz="1725" b="0">
                <a:solidFill>
                  <a:srgbClr val="4A6076"/>
                </a:solidFill>
                <a:latin typeface="Helvetica Neue"/>
                <a:ea typeface="Helvetica Neue"/>
                <a:cs typeface="Helvetica Neue"/>
              </a:rPr>
              <a:t>Ensaio automatizado autorizado. Independência de revisão humana não verificada.</a:t>
            </a:r>
          </a:p>
        </p:txBody>
      </p:sp>
    </p:spTree>
    <p:extLst>
      <p:ext uri="{BB962C8B-B14F-4D97-AF65-F5344CB8AC3E}">
        <p14:creationId xmlns:p14="http://schemas.microsoft.com/office/powerpoint/2010/main" val="92960983"/>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CB98CB1-4DA9-49A9-A0EE-19F88368E885}"/>
              </a:ext>
            </a:extLst>
          </p:cNvPr>
          <p:cNvCxnSpPr>
            <a:stCxn xmlns:a="http://schemas.openxmlformats.org/drawingml/2006/main" id="8" idx="1"/>
            <a:endCxn xmlns:a="http://schemas.openxmlformats.org/drawingml/2006/main" id="9" idx="3"/>
          </p:cNvCxnSpPr>
          <p:nvPr/>
        </p:nvCxnSpPr>
        <p:spPr>
          <a:xfrm xmlns:a="http://schemas.openxmlformats.org/drawingml/2006/main" flipH="1">
            <a:off x="9601200" y="5038725"/>
            <a:ext cx="116205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0EE398AD-150D-458C-9B53-11D8D9B37297}"/>
              </a:ext>
            </a:extLst>
          </p:cNvPr>
          <p:cNvCxnSpPr>
            <a:stCxn xmlns:a="http://schemas.openxmlformats.org/drawingml/2006/main" id="5" idx="2"/>
            <a:endCxn xmlns:a="http://schemas.openxmlformats.org/drawingml/2006/main" id="8" idx="0"/>
          </p:cNvCxnSpPr>
          <p:nvPr/>
        </p:nvCxnSpPr>
        <p:spPr>
          <a:xfrm xmlns:a="http://schemas.openxmlformats.org/drawingml/2006/main">
            <a:off x="12582525" y="3067050"/>
            <a:ext cx="0" cy="137160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7B568EF7-B9E9-4357-8970-AEB0B10718B5}"/>
              </a:ext>
            </a:extLst>
          </p:cNvPr>
          <p:cNvCxnSpPr>
            <a:stCxn xmlns:a="http://schemas.openxmlformats.org/drawingml/2006/main" id="4" idx="3"/>
            <a:endCxn xmlns:a="http://schemas.openxmlformats.org/drawingml/2006/main" id="5" idx="1"/>
          </p:cNvCxnSpPr>
          <p:nvPr/>
        </p:nvCxnSpPr>
        <p:spPr>
          <a:xfrm xmlns:a="http://schemas.openxmlformats.org/drawingml/2006/main">
            <a:off x="9601200" y="2524125"/>
            <a:ext cx="116205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6E231524-6DC5-4D64-A5BF-2B5EB9AA2379}"/>
              </a:ext>
            </a:extLst>
          </p:cNvPr>
          <p:cNvCxnSpPr>
            <a:stCxn xmlns:a="http://schemas.openxmlformats.org/drawingml/2006/main" id="3" idx="3"/>
            <a:endCxn xmlns:a="http://schemas.openxmlformats.org/drawingml/2006/main" id="4" idx="1"/>
          </p:cNvCxnSpPr>
          <p:nvPr/>
        </p:nvCxnSpPr>
        <p:spPr>
          <a:xfrm xmlns:a="http://schemas.openxmlformats.org/drawingml/2006/main">
            <a:off x="4314825" y="2524125"/>
            <a:ext cx="1095375"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9C4FB760-44FD-4C88-8D8B-BA77F8E92F14}"/>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Percurso da candidata</a:t>
            </a:r>
          </a:p>
        </p:txBody>
      </p:sp>
      <p:sp>
        <p:nvSpPr>
          <p:cNvPr id="2" name="">
            <a:extLst xmlns:a="http://schemas.openxmlformats.org/drawingml/2006/main">
              <a:ext uri="{FF2B5EF4-FFF2-40B4-BE49-F238E27FC236}">
                <a16:creationId xmlns:a16="http://schemas.microsoft.com/office/drawing/2014/main" id="{2C06E9CF-6EB7-46A2-9477-E5D0E8E56FFD}"/>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D933657-0343-483E-9703-121B72ECA12B}"/>
              </a:ext>
            </a:extLst>
          </p:cNvPr>
          <p:cNvSpPr>
            <a:spLocks xmlns:a="http://schemas.openxmlformats.org/drawingml/2006/main" noGrp="1"/>
          </p:cNvSpPr>
          <p:nvPr/>
        </p:nvSpPr>
        <p:spPr>
          <a:xfrm xmlns:a="http://schemas.openxmlformats.org/drawingml/2006/main">
            <a:off x="838200" y="1981200"/>
            <a:ext cx="3476625"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Main revisada</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e RC</a:t>
            </a:r>
          </a:p>
        </p:txBody>
      </p:sp>
      <p:sp>
        <p:nvSpPr>
          <p:cNvPr id="4" name="">
            <a:extLst xmlns:a="http://schemas.openxmlformats.org/drawingml/2006/main">
              <a:ext uri="{FF2B5EF4-FFF2-40B4-BE49-F238E27FC236}">
                <a16:creationId xmlns:a16="http://schemas.microsoft.com/office/drawing/2014/main" id="{6527677D-C1E1-47A2-8C96-886DB197B828}"/>
              </a:ext>
            </a:extLst>
          </p:cNvPr>
          <p:cNvSpPr>
            <a:spLocks xmlns:a="http://schemas.openxmlformats.org/drawingml/2006/main" noGrp="1"/>
          </p:cNvSpPr>
          <p:nvPr/>
        </p:nvSpPr>
        <p:spPr>
          <a:xfrm xmlns:a="http://schemas.openxmlformats.org/drawingml/2006/main">
            <a:off x="5410200" y="1981200"/>
            <a:ext cx="419100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Testes e build web</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Preview confirmado</a:t>
            </a:r>
          </a:p>
        </p:txBody>
      </p:sp>
      <p:sp>
        <p:nvSpPr>
          <p:cNvPr id="5" name="">
            <a:extLst xmlns:a="http://schemas.openxmlformats.org/drawingml/2006/main">
              <a:ext uri="{FF2B5EF4-FFF2-40B4-BE49-F238E27FC236}">
                <a16:creationId xmlns:a16="http://schemas.microsoft.com/office/drawing/2014/main" id="{E8D4637F-2CB0-436E-B41F-F7AF52C1EE5E}"/>
              </a:ext>
            </a:extLst>
          </p:cNvPr>
          <p:cNvSpPr>
            <a:spLocks xmlns:a="http://schemas.openxmlformats.org/drawingml/2006/main" noGrp="1"/>
          </p:cNvSpPr>
          <p:nvPr/>
        </p:nvSpPr>
        <p:spPr>
          <a:xfrm xmlns:a="http://schemas.openxmlformats.org/drawingml/2006/main">
            <a:off x="10763250" y="1981200"/>
            <a:ext cx="363855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Israel E Fabrícia</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Dois avais</a:t>
            </a:r>
          </a:p>
        </p:txBody>
      </p:sp>
      <p:sp>
        <p:nvSpPr>
          <p:cNvPr id="8" name="">
            <a:extLst xmlns:a="http://schemas.openxmlformats.org/drawingml/2006/main">
              <a:ext uri="{FF2B5EF4-FFF2-40B4-BE49-F238E27FC236}">
                <a16:creationId xmlns:a16="http://schemas.microsoft.com/office/drawing/2014/main" id="{D1AB92C2-363F-423A-935F-4989564851C7}"/>
              </a:ext>
            </a:extLst>
          </p:cNvPr>
          <p:cNvSpPr>
            <a:spLocks xmlns:a="http://schemas.openxmlformats.org/drawingml/2006/main" noGrp="1"/>
          </p:cNvSpPr>
          <p:nvPr/>
        </p:nvSpPr>
        <p:spPr>
          <a:xfrm xmlns:a="http://schemas.openxmlformats.org/drawingml/2006/main">
            <a:off x="10763250" y="4438650"/>
            <a:ext cx="363855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165FCC"/>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65FCC"/>
                </a:solidFill>
                <a:latin typeface="Helvetica Neue"/>
                <a:ea typeface="Helvetica Neue"/>
                <a:cs typeface="Helvetica Neue"/>
              </a:defRPr>
            </a:defPPr>
          </a:lstStyle>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Israel OU Fabrícia</a:t>
            </a:r>
          </a:p>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Comando PUBLICAR</a:t>
            </a:r>
          </a:p>
        </p:txBody>
      </p:sp>
      <p:sp>
        <p:nvSpPr>
          <p:cNvPr id="9" name="">
            <a:extLst xmlns:a="http://schemas.openxmlformats.org/drawingml/2006/main">
              <a:ext uri="{FF2B5EF4-FFF2-40B4-BE49-F238E27FC236}">
                <a16:creationId xmlns:a16="http://schemas.microsoft.com/office/drawing/2014/main" id="{1139FF48-2CA2-4D0B-A443-1DE68666028F}"/>
              </a:ext>
            </a:extLst>
          </p:cNvPr>
          <p:cNvSpPr>
            <a:spLocks xmlns:a="http://schemas.openxmlformats.org/drawingml/2006/main" noGrp="1"/>
          </p:cNvSpPr>
          <p:nvPr/>
        </p:nvSpPr>
        <p:spPr>
          <a:xfrm xmlns:a="http://schemas.openxmlformats.org/drawingml/2006/main">
            <a:off x="5410200" y="4438650"/>
            <a:ext cx="4191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Tag estável</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Release e recibo</a:t>
            </a:r>
          </a:p>
        </p:txBody>
      </p:sp>
      <p:sp>
        <p:nvSpPr>
          <p:cNvPr id="12" name="">
            <a:extLst xmlns:a="http://schemas.openxmlformats.org/drawingml/2006/main">
              <a:ext uri="{FF2B5EF4-FFF2-40B4-BE49-F238E27FC236}">
                <a16:creationId xmlns:a16="http://schemas.microsoft.com/office/drawing/2014/main" id="{EDD41E27-CEB8-4962-BC2F-EB859DA5C653}"/>
              </a:ext>
            </a:extLst>
          </p:cNvPr>
          <p:cNvSpPr>
            <a:spLocks xmlns:a="http://schemas.openxmlformats.org/drawingml/2006/main" noGrp="1"/>
          </p:cNvSpPr>
          <p:nvPr/>
        </p:nvSpPr>
        <p:spPr>
          <a:xfrm xmlns:a="http://schemas.openxmlformats.org/drawingml/2006/main">
            <a:off x="838200" y="6496050"/>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Uma correção na release cria outra RC e reinicia a avaliação.</a:t>
            </a:r>
          </a:p>
        </p:txBody>
      </p:sp>
      <p:sp>
        <p:nvSpPr>
          <p:cNvPr id="13" name="">
            <a:extLst xmlns:a="http://schemas.openxmlformats.org/drawingml/2006/main">
              <a:ext uri="{FF2B5EF4-FFF2-40B4-BE49-F238E27FC236}">
                <a16:creationId xmlns:a16="http://schemas.microsoft.com/office/drawing/2014/main" id="{B6AA800A-C55F-4A24-8F37-CF5730B8223D}"/>
              </a:ext>
            </a:extLst>
          </p:cNvPr>
          <p:cNvSpPr>
            <a:spLocks xmlns:a="http://schemas.openxmlformats.org/drawingml/2006/main" noGrp="1"/>
          </p:cNvSpPr>
          <p:nvPr/>
        </p:nvSpPr>
        <p:spPr>
          <a:xfrm xmlns:a="http://schemas.openxmlformats.org/drawingml/2006/main">
            <a:off x="838200" y="7334250"/>
            <a:ext cx="1323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Cada decisão pertence ao mesmo código, preview e changelog.</a:t>
            </a:r>
          </a:p>
        </p:txBody>
      </p:sp>
    </p:spTree>
    <p:extLst>
      <p:ext uri="{BB962C8B-B14F-4D97-AF65-F5344CB8AC3E}">
        <p14:creationId xmlns:p14="http://schemas.microsoft.com/office/powerpoint/2010/main" val="1102535529"/>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BE7F53-97E8-421F-AE02-0E91108733B9}"/>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Duas aprovações e um comando final</a:t>
            </a:r>
          </a:p>
        </p:txBody>
      </p:sp>
      <p:sp>
        <p:nvSpPr>
          <p:cNvPr id="2" name="">
            <a:extLst xmlns:a="http://schemas.openxmlformats.org/drawingml/2006/main">
              <a:ext uri="{FF2B5EF4-FFF2-40B4-BE49-F238E27FC236}">
                <a16:creationId xmlns:a16="http://schemas.microsoft.com/office/drawing/2014/main" id="{05D3C1E5-5E2A-444E-891E-768F124FD8BF}"/>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04</a:t>
            </a:r>
          </a:p>
        </p:txBody>
      </p:sp>
      <p:graphicFrame>
        <p:nvGraphicFramePr>
          <p:cNvPr id="3" name="">
            <a:extLst xmlns:a="http://schemas.openxmlformats.org/drawingml/2006/main">
              <a:ext uri="{FF2B5EF4-FFF2-40B4-BE49-F238E27FC236}">
                <a16:creationId xmlns:a16="http://schemas.microsoft.com/office/drawing/2014/main" id="{29C9ADF1-823A-4C74-8D26-59754DE6E5A3}"/>
              </a:ext>
            </a:extLst>
          </p:cNvPr>
          <p:cNvGraphicFramePr/>
          <p:nvPr/>
        </p:nvGraphicFramePr>
        <p:xfrm>
          <a:off xmlns:a="http://schemas.openxmlformats.org/drawingml/2006/main" x="838200" y="1828800"/>
          <a:ext xmlns:a="http://schemas.openxmlformats.org/drawingml/2006/main" cx="13563600" cy="3257550"/>
        </p:xfrm>
        <a:graphic xmlns:a="http://schemas.openxmlformats.org/drawingml/2006/main">
          <a:graphicData uri="http://schemas.openxmlformats.org/drawingml/2006/table">
            <a:tbl>
              <a:tblPr firstRow="1" bandRow="0"/>
              <a:tblGrid>
                <a:gridCol w="3714750"/>
                <a:gridCol w="3714750"/>
                <a:gridCol w="6134100"/>
              </a:tblGrid>
              <a:tr h="814388">
                <a:tc>
                  <a:txBody>
                    <a:bodyPr/>
                    <a:lstStyle/>
                    <a:p>
                      <a:r>
                        <a:rPr sz="2250" b="1">
                          <a:solidFill>
                            <a:srgbClr val="FFFFFF"/>
                          </a:solidFill>
                          <a:latin typeface="Helvetica Neue"/>
                          <a:ea typeface="Helvetica Neue"/>
                          <a:cs typeface="Helvetica Neue"/>
                        </a:rPr>
                        <a:t>Etapa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Conta elegível</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Efeito</a:t>
                      </a:r>
                    </a:p>
                  </a:txBody>
                  <a:tcPr marL="171450" marR="171450" marT="114300" marB="114300" anchor="ctr">
                    <a:solidFill>
                      <a:srgbClr val="12243A"/>
                    </a:solidFill>
                  </a:tcPr>
                </a:tc>
              </a:tr>
              <a:tr h="814388">
                <a:tc>
                  <a:txBody>
                    <a:bodyPr/>
                    <a:lstStyle/>
                    <a:p>
                      <a:r>
                        <a:rPr sz="2250">
                          <a:solidFill>
                            <a:srgbClr val="12243A"/>
                          </a:solidFill>
                          <a:latin typeface="Helvetica Neue"/>
                          <a:ea typeface="Helvetica Neue"/>
                          <a:cs typeface="Helvetica Neue"/>
                        </a:rPr>
                        <a:t>Aval de 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uma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Aval de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a outra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PUBLICAR</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 ou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Autoriza a promoção</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8CBF6D6-5A19-4F55-A7E2-9FEDCFF50A58}"/>
              </a:ext>
            </a:extLst>
          </p:cNvPr>
          <p:cNvSpPr>
            <a:spLocks xmlns:a="http://schemas.openxmlformats.org/drawingml/2006/main" noGrp="1"/>
          </p:cNvSpPr>
          <p:nvPr/>
        </p:nvSpPr>
        <p:spPr>
          <a:xfrm xmlns:a="http://schemas.openxmlformats.org/drawingml/2006/main">
            <a:off x="838200" y="56197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0/2 ou 1/2</a:t>
            </a:r>
          </a:p>
        </p:txBody>
      </p:sp>
      <p:sp>
        <p:nvSpPr>
          <p:cNvPr id="5" name="">
            <a:extLst xmlns:a="http://schemas.openxmlformats.org/drawingml/2006/main">
              <a:ext uri="{FF2B5EF4-FFF2-40B4-BE49-F238E27FC236}">
                <a16:creationId xmlns:a16="http://schemas.microsoft.com/office/drawing/2014/main" id="{1B69BA2C-BA0C-4BBE-95E8-2A0D6AFE98A3}"/>
              </a:ext>
            </a:extLst>
          </p:cNvPr>
          <p:cNvSpPr>
            <a:spLocks xmlns:a="http://schemas.openxmlformats.org/drawingml/2006/main" noGrp="1"/>
          </p:cNvSpPr>
          <p:nvPr/>
        </p:nvSpPr>
        <p:spPr>
          <a:xfrm xmlns:a="http://schemas.openxmlformats.org/drawingml/2006/main">
            <a:off x="4476750" y="569595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Publicação bloqueada</a:t>
            </a:r>
          </a:p>
        </p:txBody>
      </p:sp>
      <p:sp>
        <p:nvSpPr>
          <p:cNvPr id="6" name="">
            <a:extLst xmlns:a="http://schemas.openxmlformats.org/drawingml/2006/main">
              <a:ext uri="{FF2B5EF4-FFF2-40B4-BE49-F238E27FC236}">
                <a16:creationId xmlns:a16="http://schemas.microsoft.com/office/drawing/2014/main" id="{348363E4-1141-435C-86AF-BD5FC57EA546}"/>
              </a:ext>
            </a:extLst>
          </p:cNvPr>
          <p:cNvSpPr>
            <a:spLocks xmlns:a="http://schemas.openxmlformats.org/drawingml/2006/main" noGrp="1"/>
          </p:cNvSpPr>
          <p:nvPr/>
        </p:nvSpPr>
        <p:spPr>
          <a:xfrm xmlns:a="http://schemas.openxmlformats.org/drawingml/2006/main">
            <a:off x="838200" y="65055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F71"/>
                </a:solidFill>
                <a:latin typeface="Helvetica Neue"/>
                <a:ea typeface="Helvetica Neue"/>
                <a:cs typeface="Helvetica Neue"/>
              </a:defRPr>
            </a:defPPr>
          </a:lstStyle>
          <a:p xmlns:a="http://schemas.openxmlformats.org/drawingml/2006/main">
            <a:pPr algn="l">
              <a:defRPr sz="2850" b="1">
                <a:solidFill>
                  <a:srgbClr val="087F71"/>
                </a:solidFill>
                <a:latin typeface="Helvetica Neue"/>
                <a:ea typeface="Helvetica Neue"/>
                <a:cs typeface="Helvetica Neue"/>
              </a:defRPr>
            </a:pPr>
            <a:r>
              <a:rPr sz="2850" b="1">
                <a:solidFill>
                  <a:srgbClr val="087F71"/>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A4813D9C-D84A-4A40-A0C7-BA5FA8C15702}"/>
              </a:ext>
            </a:extLst>
          </p:cNvPr>
          <p:cNvSpPr>
            <a:spLocks xmlns:a="http://schemas.openxmlformats.org/drawingml/2006/main" noGrp="1"/>
          </p:cNvSpPr>
          <p:nvPr/>
        </p:nvSpPr>
        <p:spPr>
          <a:xfrm xmlns:a="http://schemas.openxmlformats.org/drawingml/2006/main">
            <a:off x="4476750" y="6581775"/>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Libera somente o comando final</a:t>
            </a:r>
          </a:p>
        </p:txBody>
      </p:sp>
      <p:sp>
        <p:nvSpPr>
          <p:cNvPr id="8" name="">
            <a:extLst xmlns:a="http://schemas.openxmlformats.org/drawingml/2006/main">
              <a:ext uri="{FF2B5EF4-FFF2-40B4-BE49-F238E27FC236}">
                <a16:creationId xmlns:a16="http://schemas.microsoft.com/office/drawing/2014/main" id="{13330AFD-FE48-4CC4-AE69-BEB3B436F8F9}"/>
              </a:ext>
            </a:extLst>
          </p:cNvPr>
          <p:cNvSpPr>
            <a:spLocks xmlns:a="http://schemas.openxmlformats.org/drawingml/2006/main" noGrp="1"/>
          </p:cNvSpPr>
          <p:nvPr/>
        </p:nvSpPr>
        <p:spPr>
          <a:xfrm xmlns:a="http://schemas.openxmlformats.org/drawingml/2006/main">
            <a:off x="838200" y="7477125"/>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5FCC"/>
                </a:solidFill>
                <a:latin typeface="Helvetica Neue"/>
                <a:ea typeface="Helvetica Neue"/>
                <a:cs typeface="Helvetica Neue"/>
              </a:defRPr>
            </a:defPPr>
          </a:lstStyle>
          <a:p xmlns:a="http://schemas.openxmlformats.org/drawingml/2006/main">
            <a:pPr algn="l">
              <a:defRPr sz="2100" b="1">
                <a:solidFill>
                  <a:srgbClr val="165FCC"/>
                </a:solidFill>
                <a:latin typeface="Helvetica Neue"/>
                <a:ea typeface="Helvetica Neue"/>
                <a:cs typeface="Helvetica Neue"/>
              </a:defRPr>
            </a:pPr>
            <a:r>
              <a:rPr sz="2100" b="1">
                <a:solidFill>
                  <a:srgbClr val="165FCC"/>
                </a:solidFill>
                <a:latin typeface="Helvetica Neue"/>
                <a:ea typeface="Helvetica Neue"/>
                <a:cs typeface="Helvetica Neue"/>
              </a:rPr>
              <a:t>Os dois avais não publicam automaticamente.</a:t>
            </a:r>
          </a:p>
        </p:txBody>
      </p:sp>
    </p:spTree>
    <p:extLst>
      <p:ext uri="{BB962C8B-B14F-4D97-AF65-F5344CB8AC3E}">
        <p14:creationId xmlns:p14="http://schemas.microsoft.com/office/powerpoint/2010/main" val="37904524"/>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349A8A-A365-4405-B447-5A2CEC1593AB}"/>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O botão “Approve and deploy”</a:t>
            </a:r>
          </a:p>
        </p:txBody>
      </p:sp>
      <p:sp>
        <p:nvSpPr>
          <p:cNvPr id="2" name="">
            <a:extLst xmlns:a="http://schemas.openxmlformats.org/drawingml/2006/main">
              <a:ext uri="{FF2B5EF4-FFF2-40B4-BE49-F238E27FC236}">
                <a16:creationId xmlns:a16="http://schemas.microsoft.com/office/drawing/2014/main" id="{43B8C17C-82B2-4750-820B-CB5245F64A01}"/>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05</a:t>
            </a:r>
          </a:p>
        </p:txBody>
      </p:sp>
      <p:pic>
        <p:nvPicPr>
          <p:cNvPr id="3" name="">
            <a:extLst xmlns:a="http://schemas.openxmlformats.org/drawingml/2006/main">
              <a:ext uri="{FF2B5EF4-FFF2-40B4-BE49-F238E27FC236}">
                <a16:creationId xmlns:a16="http://schemas.microsoft.com/office/drawing/2014/main" id="{5EDB365B-E4E0-4FBA-9B48-1297BF9F233F}"/>
              </a:ext>
            </a:extLst>
          </p:cNvPr>
          <p:cNvPicPr>
            <a:picLocks xmlns:a="http://schemas.openxmlformats.org/drawingml/2006/main" noChangeAspect="1"/>
          </p:cNvPicPr>
          <p:nvPr/>
        </p:nvPicPr>
        <p:blipFill>
          <a:blip xmlns:r="http://schemas.openxmlformats.org/officeDocument/2006/relationships" xmlns:a="http://schemas.openxmlformats.org/drawingml/2006/main" r:embed="R10df9582f1a74391"/>
          <a:srcRect xmlns:a="http://schemas.openxmlformats.org/drawingml/2006/main" l="1500" t="35000" r="76500" b="7000"/>
          <a:stretch xmlns:a="http://schemas.openxmlformats.org/drawingml/2006/main"/>
        </p:blipFill>
        <p:spPr>
          <a:xfrm xmlns:a="http://schemas.openxmlformats.org/drawingml/2006/main">
            <a:off x="838200" y="1943100"/>
            <a:ext cx="4105275" cy="571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DB70C58-7B05-4E31-A9AE-2A9DCAE1A26D}"/>
              </a:ext>
            </a:extLst>
          </p:cNvPr>
          <p:cNvSpPr>
            <a:spLocks xmlns:a="http://schemas.openxmlformats.org/drawingml/2006/main" noGrp="1"/>
          </p:cNvSpPr>
          <p:nvPr/>
        </p:nvSpPr>
        <p:spPr>
          <a:xfrm xmlns:a="http://schemas.openxmlformats.org/drawingml/2006/main">
            <a:off x="6191250" y="1933575"/>
            <a:ext cx="821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Gate de aprovação</a:t>
            </a:r>
          </a:p>
        </p:txBody>
      </p:sp>
      <p:sp>
        <p:nvSpPr>
          <p:cNvPr id="5" name="">
            <a:extLst xmlns:a="http://schemas.openxmlformats.org/drawingml/2006/main">
              <a:ext uri="{FF2B5EF4-FFF2-40B4-BE49-F238E27FC236}">
                <a16:creationId xmlns:a16="http://schemas.microsoft.com/office/drawing/2014/main" id="{6D4D0625-D35A-456B-90CF-5DC5178CC84C}"/>
              </a:ext>
            </a:extLst>
          </p:cNvPr>
          <p:cNvSpPr>
            <a:spLocks xmlns:a="http://schemas.openxmlformats.org/drawingml/2006/main" noGrp="1"/>
          </p:cNvSpPr>
          <p:nvPr/>
        </p:nvSpPr>
        <p:spPr>
          <a:xfrm xmlns:a="http://schemas.openxmlformats.org/drawingml/2006/main">
            <a:off x="6191250" y="2571750"/>
            <a:ext cx="821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Registra só o aval da conta selecionada.</a:t>
            </a:r>
          </a:p>
        </p:txBody>
      </p:sp>
      <p:pic>
        <p:nvPicPr>
          <p:cNvPr id="6" name="">
            <a:extLst xmlns:a="http://schemas.openxmlformats.org/drawingml/2006/main">
              <a:ext uri="{FF2B5EF4-FFF2-40B4-BE49-F238E27FC236}">
                <a16:creationId xmlns:a16="http://schemas.microsoft.com/office/drawing/2014/main" id="{8C59363C-211E-496F-9D6A-4055DFAC20C6}"/>
              </a:ext>
            </a:extLst>
          </p:cNvPr>
          <p:cNvPicPr>
            <a:picLocks xmlns:a="http://schemas.openxmlformats.org/drawingml/2006/main" noChangeAspect="1"/>
          </p:cNvPicPr>
          <p:nvPr/>
        </p:nvPicPr>
        <p:blipFill>
          <a:blip xmlns:r="http://schemas.openxmlformats.org/officeDocument/2006/relationships" xmlns:a="http://schemas.openxmlformats.org/drawingml/2006/main" r:embed="Rfa355f90de9b48bb"/>
          <a:srcRect xmlns:a="http://schemas.openxmlformats.org/drawingml/2006/main" l="62000" t="90000" r="2500" b="200"/>
          <a:stretch xmlns:a="http://schemas.openxmlformats.org/drawingml/2006/main"/>
        </p:blipFill>
        <p:spPr>
          <a:xfrm xmlns:a="http://schemas.openxmlformats.org/drawingml/2006/main">
            <a:off x="6191250" y="3714750"/>
            <a:ext cx="6667500" cy="1619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75B3BD9-2B58-4BB1-B038-B4E180309FAC}"/>
              </a:ext>
            </a:extLst>
          </p:cNvPr>
          <p:cNvSpPr>
            <a:spLocks xmlns:a="http://schemas.openxmlformats.org/drawingml/2006/main" noGrp="1"/>
          </p:cNvSpPr>
          <p:nvPr/>
        </p:nvSpPr>
        <p:spPr>
          <a:xfrm xmlns:a="http://schemas.openxmlformats.org/drawingml/2006/main">
            <a:off x="6191250" y="5905500"/>
            <a:ext cx="821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65FCC"/>
                </a:solidFill>
                <a:latin typeface="Helvetica Neue"/>
                <a:ea typeface="Helvetica Neue"/>
                <a:cs typeface="Helvetica Neue"/>
              </a:defRPr>
            </a:defPPr>
          </a:lstStyle>
          <a:p xmlns:a="http://schemas.openxmlformats.org/drawingml/2006/main">
            <a:pPr algn="l">
              <a:defRPr sz="2475" b="1">
                <a:solidFill>
                  <a:srgbClr val="165FCC"/>
                </a:solidFill>
                <a:latin typeface="Helvetica Neue"/>
                <a:ea typeface="Helvetica Neue"/>
                <a:cs typeface="Helvetica Neue"/>
              </a:defRPr>
            </a:pPr>
            <a:r>
              <a:rPr sz="2475" b="1">
                <a:solidFill>
                  <a:srgbClr val="165FCC"/>
                </a:solidFill>
                <a:latin typeface="Helvetica Neue"/>
                <a:ea typeface="Helvetica Neue"/>
                <a:cs typeface="Helvetica Neue"/>
              </a:rPr>
              <a:t>Gate PUBLICAR</a:t>
            </a:r>
          </a:p>
        </p:txBody>
      </p:sp>
      <p:sp>
        <p:nvSpPr>
          <p:cNvPr id="8" name="">
            <a:extLst xmlns:a="http://schemas.openxmlformats.org/drawingml/2006/main">
              <a:ext uri="{FF2B5EF4-FFF2-40B4-BE49-F238E27FC236}">
                <a16:creationId xmlns:a16="http://schemas.microsoft.com/office/drawing/2014/main" id="{CF1296E7-6AFC-427E-BABA-B37BC324FE20}"/>
              </a:ext>
            </a:extLst>
          </p:cNvPr>
          <p:cNvSpPr>
            <a:spLocks xmlns:a="http://schemas.openxmlformats.org/drawingml/2006/main" noGrp="1"/>
          </p:cNvSpPr>
          <p:nvPr/>
        </p:nvSpPr>
        <p:spPr>
          <a:xfrm xmlns:a="http://schemas.openxmlformats.org/drawingml/2006/main">
            <a:off x="6191250" y="6543675"/>
            <a:ext cx="821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Autoriza os efeitos após os dois avais.</a:t>
            </a:r>
          </a:p>
        </p:txBody>
      </p:sp>
      <p:sp>
        <p:nvSpPr>
          <p:cNvPr id="9" name="">
            <a:extLst xmlns:a="http://schemas.openxmlformats.org/drawingml/2006/main">
              <a:ext uri="{FF2B5EF4-FFF2-40B4-BE49-F238E27FC236}">
                <a16:creationId xmlns:a16="http://schemas.microsoft.com/office/drawing/2014/main" id="{45A6937C-F626-4397-8A32-59171BF4D706}"/>
              </a:ext>
            </a:extLst>
          </p:cNvPr>
          <p:cNvSpPr>
            <a:spLocks xmlns:a="http://schemas.openxmlformats.org/drawingml/2006/main" noGrp="1"/>
          </p:cNvSpPr>
          <p:nvPr/>
        </p:nvSpPr>
        <p:spPr>
          <a:xfrm xmlns:a="http://schemas.openxmlformats.org/drawingml/2006/main">
            <a:off x="6191250" y="7524750"/>
            <a:ext cx="821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A6076"/>
                </a:solidFill>
                <a:latin typeface="Helvetica Neue"/>
                <a:ea typeface="Helvetica Neue"/>
                <a:cs typeface="Helvetica Neue"/>
              </a:defRPr>
            </a:defPPr>
          </a:lstStyle>
          <a:p xmlns:a="http://schemas.openxmlformats.org/drawingml/2006/main">
            <a:pPr algn="l">
              <a:defRPr sz="1950" b="0">
                <a:solidFill>
                  <a:srgbClr val="4A6076"/>
                </a:solidFill>
                <a:latin typeface="Helvetica Neue"/>
                <a:ea typeface="Helvetica Neue"/>
                <a:cs typeface="Helvetica Neue"/>
              </a:defRPr>
            </a:pPr>
            <a:r>
              <a:rPr sz="1950" b="0">
                <a:solidFill>
                  <a:srgbClr val="4A6076"/>
                </a:solidFill>
                <a:latin typeface="Helvetica Neue"/>
                <a:ea typeface="Helvetica Neue"/>
                <a:cs typeface="Helvetica Neue"/>
              </a:rPr>
              <a:t>Dois gates verdes. Comando final aguardando.</a:t>
            </a:r>
          </a:p>
        </p:txBody>
      </p:sp>
    </p:spTree>
    <p:extLst>
      <p:ext uri="{BB962C8B-B14F-4D97-AF65-F5344CB8AC3E}">
        <p14:creationId xmlns:p14="http://schemas.microsoft.com/office/powerpoint/2010/main" val="215774366"/>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3B59FC-2555-40E4-9FF8-D85D03532C16}"/>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Identidade congelada da candidata</a:t>
            </a:r>
          </a:p>
        </p:txBody>
      </p:sp>
      <p:sp>
        <p:nvSpPr>
          <p:cNvPr id="2" name="">
            <a:extLst xmlns:a="http://schemas.openxmlformats.org/drawingml/2006/main">
              <a:ext uri="{FF2B5EF4-FFF2-40B4-BE49-F238E27FC236}">
                <a16:creationId xmlns:a16="http://schemas.microsoft.com/office/drawing/2014/main" id="{40E0BC8B-E612-41AF-AEB9-458E3E7190DA}"/>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B9511D50-1AB8-4753-A12A-A54786BC2356}"/>
              </a:ext>
            </a:extLst>
          </p:cNvPr>
          <p:cNvSpPr>
            <a:spLocks xmlns:a="http://schemas.openxmlformats.org/drawingml/2006/main" noGrp="1"/>
          </p:cNvSpPr>
          <p:nvPr/>
        </p:nvSpPr>
        <p:spPr>
          <a:xfrm xmlns:a="http://schemas.openxmlformats.org/drawingml/2006/main">
            <a:off x="6858000" y="1943100"/>
            <a:ext cx="7543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71"/>
                </a:solidFill>
                <a:latin typeface="Helvetica Neue"/>
                <a:ea typeface="Helvetica Neue"/>
                <a:cs typeface="Helvetica Neue"/>
              </a:defRPr>
            </a:defPPr>
          </a:lstStyle>
          <a:p xmlns:a="http://schemas.openxmlformats.org/drawingml/2006/main">
            <a:pPr algn="l">
              <a:defRPr sz="2325" b="1">
                <a:solidFill>
                  <a:srgbClr val="087F71"/>
                </a:solidFill>
                <a:latin typeface="Helvetica Neue"/>
                <a:ea typeface="Helvetica Neue"/>
                <a:cs typeface="Helvetica Neue"/>
              </a:defRPr>
            </a:pPr>
            <a:r>
              <a:rPr sz="2325" b="1">
                <a:solidFill>
                  <a:srgbClr val="087F71"/>
                </a:solidFill>
                <a:latin typeface="Helvetica Neue"/>
                <a:ea typeface="Helvetica Neue"/>
                <a:cs typeface="Helvetica Neue"/>
              </a:rPr>
              <a:t>Preview da RC2 corrigida</a:t>
            </a:r>
          </a:p>
        </p:txBody>
      </p:sp>
      <p:pic>
        <p:nvPicPr>
          <p:cNvPr id="4" name="">
            <a:extLst xmlns:a="http://schemas.openxmlformats.org/drawingml/2006/main">
              <a:ext uri="{FF2B5EF4-FFF2-40B4-BE49-F238E27FC236}">
                <a16:creationId xmlns:a16="http://schemas.microsoft.com/office/drawing/2014/main" id="{37C70A5B-50BC-4ED8-B028-D2B2F9801A2A}"/>
              </a:ext>
            </a:extLst>
          </p:cNvPr>
          <p:cNvPicPr>
            <a:picLocks xmlns:a="http://schemas.openxmlformats.org/drawingml/2006/main" noChangeAspect="1"/>
          </p:cNvPicPr>
          <p:nvPr/>
        </p:nvPicPr>
        <p:blipFill>
          <a:blip xmlns:r="http://schemas.openxmlformats.org/officeDocument/2006/relationships" xmlns:a="http://schemas.openxmlformats.org/drawingml/2006/main" r:embed="R1147101a6e8e4f51"/>
          <a:srcRect xmlns:a="http://schemas.openxmlformats.org/drawingml/2006/main" l="20000" t="47000" r="20000" b="23000"/>
          <a:stretch xmlns:a="http://schemas.openxmlformats.org/drawingml/2006/main"/>
        </p:blipFill>
        <p:spPr>
          <a:xfrm xmlns:a="http://schemas.openxmlformats.org/drawingml/2006/main">
            <a:off x="6858000" y="2971800"/>
            <a:ext cx="7543800" cy="2076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AF8359-4EA5-4D7A-8AE5-051457B28347}"/>
              </a:ext>
            </a:extLst>
          </p:cNvPr>
          <p:cNvSpPr>
            <a:spLocks xmlns:a="http://schemas.openxmlformats.org/drawingml/2006/main" noGrp="1"/>
          </p:cNvSpPr>
          <p:nvPr/>
        </p:nvSpPr>
        <p:spPr>
          <a:xfrm xmlns:a="http://schemas.openxmlformats.org/drawingml/2006/main">
            <a:off x="6858000" y="5610225"/>
            <a:ext cx="75438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A6076"/>
                </a:solidFill>
                <a:latin typeface="Helvetica Neue"/>
                <a:ea typeface="Helvetica Neue"/>
                <a:cs typeface="Helvetica Neue"/>
              </a:defRPr>
            </a:defPPr>
          </a:lstStyle>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Versão da entrega: 1.5.0</a:t>
            </a:r>
          </a:p>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Versão do app no preview: 1.1.0+2</a:t>
            </a:r>
          </a:p>
        </p:txBody>
      </p:sp>
      <p:sp>
        <p:nvSpPr>
          <p:cNvPr id="6" name="">
            <a:extLst xmlns:a="http://schemas.openxmlformats.org/drawingml/2006/main">
              <a:ext uri="{FF2B5EF4-FFF2-40B4-BE49-F238E27FC236}">
                <a16:creationId xmlns:a16="http://schemas.microsoft.com/office/drawing/2014/main" id="{513F57F9-AC60-4880-95CF-AB7B91CC2F17}"/>
              </a:ext>
            </a:extLst>
          </p:cNvPr>
          <p:cNvSpPr>
            <a:spLocks xmlns:a="http://schemas.openxmlformats.org/drawingml/2006/main" noGrp="1"/>
          </p:cNvSpPr>
          <p:nvPr/>
        </p:nvSpPr>
        <p:spPr>
          <a:xfrm xmlns:a="http://schemas.openxmlformats.org/drawingml/2006/main">
            <a:off x="838200" y="2038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Código selecionado</a:t>
            </a:r>
          </a:p>
        </p:txBody>
      </p:sp>
      <p:sp>
        <p:nvSpPr>
          <p:cNvPr id="7" name="">
            <a:extLst xmlns:a="http://schemas.openxmlformats.org/drawingml/2006/main">
              <a:ext uri="{FF2B5EF4-FFF2-40B4-BE49-F238E27FC236}">
                <a16:creationId xmlns:a16="http://schemas.microsoft.com/office/drawing/2014/main" id="{0CD2E290-FD02-43B7-AF80-4CB2700CAED4}"/>
              </a:ext>
            </a:extLst>
          </p:cNvPr>
          <p:cNvSpPr>
            <a:spLocks xmlns:a="http://schemas.openxmlformats.org/drawingml/2006/main" noGrp="1"/>
          </p:cNvSpPr>
          <p:nvPr/>
        </p:nvSpPr>
        <p:spPr>
          <a:xfrm xmlns:a="http://schemas.openxmlformats.org/drawingml/2006/main">
            <a:off x="838200" y="26479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 imutável e commit exato</a:t>
            </a:r>
          </a:p>
        </p:txBody>
      </p:sp>
      <p:sp>
        <p:nvSpPr>
          <p:cNvPr id="8" name="">
            <a:extLst xmlns:a="http://schemas.openxmlformats.org/drawingml/2006/main">
              <a:ext uri="{FF2B5EF4-FFF2-40B4-BE49-F238E27FC236}">
                <a16:creationId xmlns:a16="http://schemas.microsoft.com/office/drawing/2014/main" id="{5FE463D4-B326-496C-BCC3-06A2182AA13C}"/>
              </a:ext>
            </a:extLst>
          </p:cNvPr>
          <p:cNvSpPr>
            <a:spLocks xmlns:a="http://schemas.openxmlformats.org/drawingml/2006/main" noGrp="1"/>
          </p:cNvSpPr>
          <p:nvPr/>
        </p:nvSpPr>
        <p:spPr>
          <a:xfrm xmlns:a="http://schemas.openxmlformats.org/drawingml/2006/main">
            <a:off x="838200" y="37433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Conteúdo da revisão</a:t>
            </a:r>
          </a:p>
        </p:txBody>
      </p:sp>
      <p:sp>
        <p:nvSpPr>
          <p:cNvPr id="9" name="">
            <a:extLst xmlns:a="http://schemas.openxmlformats.org/drawingml/2006/main">
              <a:ext uri="{FF2B5EF4-FFF2-40B4-BE49-F238E27FC236}">
                <a16:creationId xmlns:a16="http://schemas.microsoft.com/office/drawing/2014/main" id="{560EC659-27A3-4477-88B6-4B38E7CF1071}"/>
              </a:ext>
            </a:extLst>
          </p:cNvPr>
          <p:cNvSpPr>
            <a:spLocks xmlns:a="http://schemas.openxmlformats.org/drawingml/2006/main" noGrp="1"/>
          </p:cNvSpPr>
          <p:nvPr/>
        </p:nvSpPr>
        <p:spPr>
          <a:xfrm xmlns:a="http://schemas.openxmlformats.org/drawingml/2006/main">
            <a:off x="838200" y="4352925"/>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Preview, changelog e relatório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ligados à mesma fonte</a:t>
            </a:r>
          </a:p>
        </p:txBody>
      </p:sp>
      <p:sp>
        <p:nvSpPr>
          <p:cNvPr id="10" name="">
            <a:extLst xmlns:a="http://schemas.openxmlformats.org/drawingml/2006/main">
              <a:ext uri="{FF2B5EF4-FFF2-40B4-BE49-F238E27FC236}">
                <a16:creationId xmlns:a16="http://schemas.microsoft.com/office/drawing/2014/main" id="{CFBBCF0C-1A52-4BC1-B1AF-0B312533DE29}"/>
              </a:ext>
            </a:extLst>
          </p:cNvPr>
          <p:cNvSpPr>
            <a:spLocks xmlns:a="http://schemas.openxmlformats.org/drawingml/2006/main" noGrp="1"/>
          </p:cNvSpPr>
          <p:nvPr/>
        </p:nvSpPr>
        <p:spPr>
          <a:xfrm xmlns:a="http://schemas.openxmlformats.org/drawingml/2006/main">
            <a:off x="838200" y="59245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Destino e modo</a:t>
            </a:r>
          </a:p>
        </p:txBody>
      </p:sp>
      <p:sp>
        <p:nvSpPr>
          <p:cNvPr id="11" name="">
            <a:extLst xmlns:a="http://schemas.openxmlformats.org/drawingml/2006/main">
              <a:ext uri="{FF2B5EF4-FFF2-40B4-BE49-F238E27FC236}">
                <a16:creationId xmlns:a16="http://schemas.microsoft.com/office/drawing/2014/main" id="{2C83567F-A66D-4133-B64E-681DCA283617}"/>
              </a:ext>
            </a:extLst>
          </p:cNvPr>
          <p:cNvSpPr>
            <a:spLocks xmlns:a="http://schemas.openxmlformats.org/drawingml/2006/main" noGrp="1"/>
          </p:cNvSpPr>
          <p:nvPr/>
        </p:nvSpPr>
        <p:spPr>
          <a:xfrm xmlns:a="http://schemas.openxmlformats.org/drawingml/2006/main">
            <a:off x="838200" y="6534150"/>
            <a:ext cx="5143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87F71"/>
                </a:solidFill>
                <a:latin typeface="Helvetica Neue"/>
                <a:ea typeface="Helvetica Neue"/>
                <a:cs typeface="Helvetica Neue"/>
              </a:defRPr>
            </a:defPPr>
          </a:lstStyle>
          <a:p xmlns:a="http://schemas.openxmlformats.org/drawingml/2006/main">
            <a:pPr algn="l">
              <a:defRPr sz="2175" b="0">
                <a:solidFill>
                  <a:srgbClr val="087F71"/>
                </a:solidFill>
                <a:latin typeface="Helvetica Neue"/>
                <a:ea typeface="Helvetica Neue"/>
                <a:cs typeface="Helvetica Neue"/>
              </a:defRPr>
            </a:pPr>
            <a:r>
              <a:rPr sz="2175" b="0">
                <a:solidFill>
                  <a:srgbClr val="087F71"/>
                </a:solidFill>
                <a:latin typeface="Helvetica Neue"/>
                <a:ea typeface="Helvetica Neue"/>
                <a:cs typeface="Helvetica Neue"/>
              </a:rPr>
              <a:t>GitHub Release v1.5.0</a:t>
            </a:r>
          </a:p>
        </p:txBody>
      </p:sp>
      <p:sp>
        <p:nvSpPr>
          <p:cNvPr id="12" name="">
            <a:extLst xmlns:a="http://schemas.openxmlformats.org/drawingml/2006/main">
              <a:ext uri="{FF2B5EF4-FFF2-40B4-BE49-F238E27FC236}">
                <a16:creationId xmlns:a16="http://schemas.microsoft.com/office/drawing/2014/main" id="{C787D157-C70A-4E14-A0DC-0232B7A9F70B}"/>
              </a:ext>
            </a:extLst>
          </p:cNvPr>
          <p:cNvSpPr>
            <a:spLocks xmlns:a="http://schemas.openxmlformats.org/drawingml/2006/main" noGrp="1"/>
          </p:cNvSpPr>
          <p:nvPr/>
        </p:nvSpPr>
        <p:spPr>
          <a:xfrm xmlns:a="http://schemas.openxmlformats.org/drawingml/2006/main">
            <a:off x="838200" y="7600950"/>
            <a:ext cx="1314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A6076"/>
                </a:solidFill>
                <a:latin typeface="Helvetica Neue"/>
                <a:ea typeface="Helvetica Neue"/>
                <a:cs typeface="Helvetica Neue"/>
              </a:defRPr>
            </a:defPPr>
          </a:lstStyle>
          <a:p xmlns:a="http://schemas.openxmlformats.org/drawingml/2006/main">
            <a:pPr algn="l">
              <a:defRPr sz="1875" b="0">
                <a:solidFill>
                  <a:srgbClr val="4A6076"/>
                </a:solidFill>
                <a:latin typeface="Helvetica Neue"/>
                <a:ea typeface="Helvetica Neue"/>
                <a:cs typeface="Helvetica Neue"/>
              </a:defRPr>
            </a:pPr>
            <a:r>
              <a:rPr sz="1875" b="0">
                <a:solidFill>
                  <a:srgbClr val="4A6076"/>
                </a:solidFill>
                <a:latin typeface="Helvetica Neue"/>
                <a:ea typeface="Helvetica Neue"/>
                <a:cs typeface="Helvetica Neue"/>
              </a:rPr>
              <a:t>Preview web confirma este snapshot. Mobile tem validação própria.</a:t>
            </a:r>
          </a:p>
        </p:txBody>
      </p:sp>
    </p:spTree>
    <p:extLst>
      <p:ext uri="{BB962C8B-B14F-4D97-AF65-F5344CB8AC3E}">
        <p14:creationId xmlns:p14="http://schemas.microsoft.com/office/powerpoint/2010/main" val="1686635987"/>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7375463-EBB0-4A32-94BC-B4D26989D734}"/>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Rejeição da RC1 e correção</a:t>
            </a:r>
          </a:p>
        </p:txBody>
      </p:sp>
      <p:sp>
        <p:nvSpPr>
          <p:cNvPr id="2" name="">
            <a:extLst xmlns:a="http://schemas.openxmlformats.org/drawingml/2006/main">
              <a:ext uri="{FF2B5EF4-FFF2-40B4-BE49-F238E27FC236}">
                <a16:creationId xmlns:a16="http://schemas.microsoft.com/office/drawing/2014/main" id="{1104194C-38B6-4632-822E-CEACFA2FDA0F}"/>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07</a:t>
            </a:r>
          </a:p>
        </p:txBody>
      </p:sp>
      <p:pic>
        <p:nvPicPr>
          <p:cNvPr id="3" name="">
            <a:extLst xmlns:a="http://schemas.openxmlformats.org/drawingml/2006/main">
              <a:ext uri="{FF2B5EF4-FFF2-40B4-BE49-F238E27FC236}">
                <a16:creationId xmlns:a16="http://schemas.microsoft.com/office/drawing/2014/main" id="{555747E4-CAA5-471A-8F7D-800477DAF3AD}"/>
              </a:ext>
            </a:extLst>
          </p:cNvPr>
          <p:cNvPicPr>
            <a:picLocks xmlns:a="http://schemas.openxmlformats.org/drawingml/2006/main" noChangeAspect="1"/>
          </p:cNvPicPr>
          <p:nvPr/>
        </p:nvPicPr>
        <p:blipFill>
          <a:blip xmlns:r="http://schemas.openxmlformats.org/officeDocument/2006/relationships" xmlns:a="http://schemas.openxmlformats.org/drawingml/2006/main" r:embed="R201ac5a7dc7b4751"/>
          <a:srcRect xmlns:a="http://schemas.openxmlformats.org/drawingml/2006/main" l="0" t="24000" r="0" b="2500"/>
          <a:stretch xmlns:a="http://schemas.openxmlformats.org/drawingml/2006/main"/>
        </p:blipFill>
        <p:spPr>
          <a:xfrm xmlns:a="http://schemas.openxmlformats.org/drawingml/2006/main">
            <a:off x="838200" y="2476500"/>
            <a:ext cx="8372475" cy="33909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74AB780-3E73-4369-8BE6-610F964CC22E}"/>
              </a:ext>
            </a:extLst>
          </p:cNvPr>
          <p:cNvSpPr>
            <a:spLocks xmlns:a="http://schemas.openxmlformats.org/drawingml/2006/main" noGrp="1"/>
          </p:cNvSpPr>
          <p:nvPr/>
        </p:nvSpPr>
        <p:spPr>
          <a:xfrm xmlns:a="http://schemas.openxmlformats.org/drawingml/2006/main">
            <a:off x="9906000" y="1952625"/>
            <a:ext cx="449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AB3744"/>
                </a:solidFill>
                <a:latin typeface="Helvetica Neue"/>
                <a:ea typeface="Helvetica Neue"/>
                <a:cs typeface="Helvetica Neue"/>
              </a:defRPr>
            </a:defPPr>
          </a:lstStyle>
          <a:p xmlns:a="http://schemas.openxmlformats.org/drawingml/2006/main">
            <a:pPr algn="l">
              <a:defRPr sz="2550" b="1">
                <a:solidFill>
                  <a:srgbClr val="AB3744"/>
                </a:solidFill>
                <a:latin typeface="Helvetica Neue"/>
                <a:ea typeface="Helvetica Neue"/>
                <a:cs typeface="Helvetica Neue"/>
              </a:defRPr>
            </a:pPr>
            <a:r>
              <a:rPr sz="2550" b="1">
                <a:solidFill>
                  <a:srgbClr val="AB3744"/>
                </a:solidFill>
                <a:latin typeface="Helvetica Neue"/>
                <a:ea typeface="Helvetica Neue"/>
                <a:cs typeface="Helvetica Neue"/>
              </a:rPr>
              <a:t>1  RC1 rejeitada</a:t>
            </a:r>
          </a:p>
        </p:txBody>
      </p:sp>
      <p:sp>
        <p:nvSpPr>
          <p:cNvPr id="5" name="">
            <a:extLst xmlns:a="http://schemas.openxmlformats.org/drawingml/2006/main">
              <a:ext uri="{FF2B5EF4-FFF2-40B4-BE49-F238E27FC236}">
                <a16:creationId xmlns:a16="http://schemas.microsoft.com/office/drawing/2014/main" id="{8F108764-D395-4446-9AD2-0D238EF51727}"/>
              </a:ext>
            </a:extLst>
          </p:cNvPr>
          <p:cNvSpPr>
            <a:spLocks xmlns:a="http://schemas.openxmlformats.org/drawingml/2006/main" noGrp="1"/>
          </p:cNvSpPr>
          <p:nvPr/>
        </p:nvSpPr>
        <p:spPr>
          <a:xfrm xmlns:a="http://schemas.openxmlformats.org/drawingml/2006/main">
            <a:off x="9906000" y="2990850"/>
            <a:ext cx="4495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2  Correção revisada</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na release</a:t>
            </a:r>
          </a:p>
        </p:txBody>
      </p:sp>
      <p:sp>
        <p:nvSpPr>
          <p:cNvPr id="6" name="">
            <a:extLst xmlns:a="http://schemas.openxmlformats.org/drawingml/2006/main">
              <a:ext uri="{FF2B5EF4-FFF2-40B4-BE49-F238E27FC236}">
                <a16:creationId xmlns:a16="http://schemas.microsoft.com/office/drawing/2014/main" id="{1F1452FC-97A7-44FD-9FB4-B25DABBF1C78}"/>
              </a:ext>
            </a:extLst>
          </p:cNvPr>
          <p:cNvSpPr>
            <a:spLocks xmlns:a="http://schemas.openxmlformats.org/drawingml/2006/main" noGrp="1"/>
          </p:cNvSpPr>
          <p:nvPr/>
        </p:nvSpPr>
        <p:spPr>
          <a:xfrm xmlns:a="http://schemas.openxmlformats.org/drawingml/2006/main">
            <a:off x="9906000" y="4352925"/>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3  RC2 começa</a:t>
            </a:r>
          </a:p>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    com zero avais</a:t>
            </a:r>
          </a:p>
        </p:txBody>
      </p:sp>
      <p:sp>
        <p:nvSpPr>
          <p:cNvPr id="7" name="">
            <a:extLst xmlns:a="http://schemas.openxmlformats.org/drawingml/2006/main">
              <a:ext uri="{FF2B5EF4-FFF2-40B4-BE49-F238E27FC236}">
                <a16:creationId xmlns:a16="http://schemas.microsoft.com/office/drawing/2014/main" id="{FB32B823-66A3-4380-9E49-7F1F3ECBDF96}"/>
              </a:ext>
            </a:extLst>
          </p:cNvPr>
          <p:cNvSpPr>
            <a:spLocks xmlns:a="http://schemas.openxmlformats.org/drawingml/2006/main" noGrp="1"/>
          </p:cNvSpPr>
          <p:nvPr/>
        </p:nvSpPr>
        <p:spPr>
          <a:xfrm xmlns:a="http://schemas.openxmlformats.org/drawingml/2006/main">
            <a:off x="9906000" y="5772150"/>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4  Novos dois avais</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e comando final</a:t>
            </a:r>
          </a:p>
        </p:txBody>
      </p:sp>
      <p:sp>
        <p:nvSpPr>
          <p:cNvPr id="8" name="">
            <a:extLst xmlns:a="http://schemas.openxmlformats.org/drawingml/2006/main">
              <a:ext uri="{FF2B5EF4-FFF2-40B4-BE49-F238E27FC236}">
                <a16:creationId xmlns:a16="http://schemas.microsoft.com/office/drawing/2014/main" id="{82B80888-944F-4915-AECA-E6BAE1A1A529}"/>
              </a:ext>
            </a:extLst>
          </p:cNvPr>
          <p:cNvSpPr>
            <a:spLocks xmlns:a="http://schemas.openxmlformats.org/drawingml/2006/main" noGrp="1"/>
          </p:cNvSpPr>
          <p:nvPr/>
        </p:nvSpPr>
        <p:spPr>
          <a:xfrm xmlns:a="http://schemas.openxmlformats.org/drawingml/2006/main">
            <a:off x="838200" y="7429500"/>
            <a:ext cx="13563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87F71"/>
                </a:solidFill>
                <a:latin typeface="Helvetica Neue"/>
                <a:ea typeface="Helvetica Neue"/>
                <a:cs typeface="Helvetica Neue"/>
              </a:defRPr>
            </a:defPPr>
          </a:lstStyle>
          <a:p xmlns:a="http://schemas.openxmlformats.org/drawingml/2006/main">
            <a:pPr algn="l">
              <a:defRPr sz="2100" b="0">
                <a:solidFill>
                  <a:srgbClr val="087F71"/>
                </a:solidFill>
                <a:latin typeface="Helvetica Neue"/>
                <a:ea typeface="Helvetica Neue"/>
                <a:cs typeface="Helvetica Neue"/>
              </a:defRPr>
            </a:pPr>
            <a:r>
              <a:rPr sz="2100" b="0">
                <a:solidFill>
                  <a:srgbClr val="087F71"/>
                </a:solidFill>
                <a:latin typeface="Helvetica Neue"/>
                <a:ea typeface="Helvetica Neue"/>
                <a:cs typeface="Helvetica Neue"/>
              </a:rPr>
              <a:t>Correção também integrada à main por PR</a:t>
            </a:r>
          </a:p>
        </p:txBody>
      </p:sp>
    </p:spTree>
    <p:extLst>
      <p:ext uri="{BB962C8B-B14F-4D97-AF65-F5344CB8AC3E}">
        <p14:creationId xmlns:p14="http://schemas.microsoft.com/office/powerpoint/2010/main" val="576643987"/>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5ABE8E-5EF8-4FC0-835B-3805105387A4}"/>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Tags candidatas e tag estável</a:t>
            </a:r>
          </a:p>
        </p:txBody>
      </p:sp>
      <p:sp>
        <p:nvSpPr>
          <p:cNvPr id="2" name="">
            <a:extLst xmlns:a="http://schemas.openxmlformats.org/drawingml/2006/main">
              <a:ext uri="{FF2B5EF4-FFF2-40B4-BE49-F238E27FC236}">
                <a16:creationId xmlns:a16="http://schemas.microsoft.com/office/drawing/2014/main" id="{70A3E95B-3AC1-4091-A3A9-B893FE421F74}"/>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08</a:t>
            </a:r>
          </a:p>
        </p:txBody>
      </p:sp>
      <p:graphicFrame>
        <p:nvGraphicFramePr>
          <p:cNvPr id="3" name="">
            <a:extLst xmlns:a="http://schemas.openxmlformats.org/drawingml/2006/main">
              <a:ext uri="{FF2B5EF4-FFF2-40B4-BE49-F238E27FC236}">
                <a16:creationId xmlns:a16="http://schemas.microsoft.com/office/drawing/2014/main" id="{B6F189EC-92A9-441E-94E8-DBDAFF767485}"/>
              </a:ext>
            </a:extLst>
          </p:cNvPr>
          <p:cNvGraphicFramePr/>
          <p:nvPr/>
        </p:nvGraphicFramePr>
        <p:xfrm>
          <a:off xmlns:a="http://schemas.openxmlformats.org/drawingml/2006/main" x="838200" y="1905000"/>
          <a:ext xmlns:a="http://schemas.openxmlformats.org/drawingml/2006/main" cx="13563600" cy="3333750"/>
        </p:xfrm>
        <a:graphic xmlns:a="http://schemas.openxmlformats.org/drawingml/2006/main">
          <a:graphicData uri="http://schemas.openxmlformats.org/drawingml/2006/table">
            <a:tbl>
              <a:tblPr firstRow="1" bandRow="0"/>
              <a:tblGrid>
                <a:gridCol w="3524250"/>
                <a:gridCol w="2762250"/>
                <a:gridCol w="7277100"/>
              </a:tblGrid>
              <a:tr h="833438">
                <a:tc>
                  <a:txBody>
                    <a:bodyPr/>
                    <a:lstStyle/>
                    <a:p>
                      <a:r>
                        <a:rPr sz="2250" b="1">
                          <a:solidFill>
                            <a:srgbClr val="FFFFFF"/>
                          </a:solidFill>
                          <a:latin typeface="Helvetica Neue"/>
                          <a:ea typeface="Helvetica Neue"/>
                          <a:cs typeface="Helvetica Neue"/>
                        </a:rPr>
                        <a:t>Referência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Código</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Papel no histórico</a:t>
                      </a:r>
                    </a:p>
                  </a:txBody>
                  <a:tcPr marL="171450" marR="171450" marT="114300" marB="114300" anchor="ctr">
                    <a:solidFill>
                      <a:srgbClr val="12243A"/>
                    </a:solidFill>
                  </a:tcPr>
                </a:tc>
              </a:tr>
              <a:tr h="833438">
                <a:tc>
                  <a:txBody>
                    <a:bodyPr/>
                    <a:lstStyle/>
                    <a:p>
                      <a:r>
                        <a:rPr sz="2250">
                          <a:solidFill>
                            <a:srgbClr val="12243A"/>
                          </a:solidFill>
                          <a:latin typeface="Helvetica Neue"/>
                          <a:ea typeface="Helvetica Neue"/>
                          <a:cs typeface="Helvetica Neue"/>
                        </a:rPr>
                        <a:t>v1.5.0-rc.1</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9c4ad37</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rejeitada, preservada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v1.5.0-rc.2</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corrigida e aprovada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Versão estável publicada</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3FE08FF-FB70-4FF0-BE28-3AA28C404956}"/>
              </a:ext>
            </a:extLst>
          </p:cNvPr>
          <p:cNvSpPr>
            <a:spLocks xmlns:a="http://schemas.openxmlformats.org/drawingml/2006/main" noGrp="1"/>
          </p:cNvSpPr>
          <p:nvPr/>
        </p:nvSpPr>
        <p:spPr>
          <a:xfrm xmlns:a="http://schemas.openxmlformats.org/drawingml/2006/main">
            <a:off x="838200" y="5829300"/>
            <a:ext cx="1285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87F71"/>
                </a:solidFill>
                <a:latin typeface="Helvetica Neue"/>
                <a:ea typeface="Helvetica Neue"/>
                <a:cs typeface="Helvetica Neue"/>
              </a:defRPr>
            </a:defPPr>
          </a:lstStyle>
          <a:p xmlns:a="http://schemas.openxmlformats.org/drawingml/2006/main">
            <a:pPr algn="l">
              <a:defRPr sz="3000" b="1">
                <a:solidFill>
                  <a:srgbClr val="087F71"/>
                </a:solidFill>
                <a:latin typeface="Helvetica Neue"/>
                <a:ea typeface="Helvetica Neue"/>
                <a:cs typeface="Helvetica Neue"/>
              </a:defRPr>
            </a:pPr>
            <a:r>
              <a:rPr sz="3000" b="1">
                <a:solidFill>
                  <a:srgbClr val="087F71"/>
                </a:solidFill>
                <a:latin typeface="Helvetica Neue"/>
                <a:ea typeface="Helvetica Neue"/>
                <a:cs typeface="Helvetica Neue"/>
              </a:rPr>
              <a:t>RC2 e estável compartilham o código aprovado</a:t>
            </a:r>
          </a:p>
        </p:txBody>
      </p:sp>
      <p:sp>
        <p:nvSpPr>
          <p:cNvPr id="5" name="">
            <a:extLst xmlns:a="http://schemas.openxmlformats.org/drawingml/2006/main">
              <a:ext uri="{FF2B5EF4-FFF2-40B4-BE49-F238E27FC236}">
                <a16:creationId xmlns:a16="http://schemas.microsoft.com/office/drawing/2014/main" id="{29E1071C-C5F3-41C8-9101-CE6CEA8EF114}"/>
              </a:ext>
            </a:extLst>
          </p:cNvPr>
          <p:cNvSpPr>
            <a:spLocks xmlns:a="http://schemas.openxmlformats.org/drawingml/2006/main" noGrp="1"/>
          </p:cNvSpPr>
          <p:nvPr/>
        </p:nvSpPr>
        <p:spPr>
          <a:xfrm xmlns:a="http://schemas.openxmlformats.org/drawingml/2006/main">
            <a:off x="838200" y="6858000"/>
            <a:ext cx="1333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 Release mantém a ligação com o preview, changelog e execução.</a:t>
            </a:r>
          </a:p>
        </p:txBody>
      </p:sp>
    </p:spTree>
    <p:extLst>
      <p:ext uri="{BB962C8B-B14F-4D97-AF65-F5344CB8AC3E}">
        <p14:creationId xmlns:p14="http://schemas.microsoft.com/office/powerpoint/2010/main" val="605176261"/>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E7F8B7-C8C9-472D-B821-FACC11FC4D68}"/>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Cenários observados no GitHub</a:t>
            </a:r>
          </a:p>
        </p:txBody>
      </p:sp>
      <p:sp>
        <p:nvSpPr>
          <p:cNvPr id="2" name="">
            <a:extLst xmlns:a="http://schemas.openxmlformats.org/drawingml/2006/main">
              <a:ext uri="{FF2B5EF4-FFF2-40B4-BE49-F238E27FC236}">
                <a16:creationId xmlns:a16="http://schemas.microsoft.com/office/drawing/2014/main" id="{BEBB90F4-6553-46FA-B548-EF2843A7229C}"/>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2B453384-6E44-419F-88E7-9E810B5F2328}"/>
              </a:ext>
            </a:extLst>
          </p:cNvPr>
          <p:cNvSpPr>
            <a:spLocks xmlns:a="http://schemas.openxmlformats.org/drawingml/2006/main" noGrp="1"/>
          </p:cNvSpPr>
          <p:nvPr/>
        </p:nvSpPr>
        <p:spPr>
          <a:xfrm xmlns:a="http://schemas.openxmlformats.org/drawingml/2006/main">
            <a:off x="838200" y="1390650"/>
            <a:ext cx="13563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87F71"/>
                </a:solidFill>
                <a:latin typeface="Helvetica Neue"/>
                <a:ea typeface="Helvetica Neue"/>
                <a:cs typeface="Helvetica Neue"/>
              </a:defRPr>
            </a:defPPr>
          </a:lstStyle>
          <a:p xmlns:a="http://schemas.openxmlformats.org/drawingml/2006/main">
            <a:pPr algn="l">
              <a:defRPr sz="2025" b="0">
                <a:solidFill>
                  <a:srgbClr val="087F71"/>
                </a:solidFill>
                <a:latin typeface="Helvetica Neue"/>
                <a:ea typeface="Helvetica Neue"/>
                <a:cs typeface="Helvetica Neue"/>
              </a:defRPr>
            </a:pPr>
            <a:r>
              <a:rPr sz="2025" b="0">
                <a:solidFill>
                  <a:srgbClr val="087F71"/>
                </a:solidFill>
                <a:latin typeface="Helvetica Neue"/>
                <a:ea typeface="Helvetica Neue"/>
                <a:cs typeface="Helvetica Neue"/>
              </a:rPr>
              <a:t>15 de 20 verificações PASS. Os ramos restantes seguem pendentes remotamente.</a:t>
            </a:r>
          </a:p>
        </p:txBody>
      </p:sp>
      <p:graphicFrame>
        <p:nvGraphicFramePr>
          <p:cNvPr id="4" name="">
            <a:extLst xmlns:a="http://schemas.openxmlformats.org/drawingml/2006/main">
              <a:ext uri="{FF2B5EF4-FFF2-40B4-BE49-F238E27FC236}">
                <a16:creationId xmlns:a16="http://schemas.microsoft.com/office/drawing/2014/main" id="{5767BB69-0EF3-4B05-BD43-7DDC56AA22BC}"/>
              </a:ext>
            </a:extLst>
          </p:cNvPr>
          <p:cNvGraphicFramePr/>
          <p:nvPr/>
        </p:nvGraphicFramePr>
        <p:xfrm>
          <a:off xmlns:a="http://schemas.openxmlformats.org/drawingml/2006/main" x="838200" y="1933575"/>
          <a:ext xmlns:a="http://schemas.openxmlformats.org/drawingml/2006/main" cx="13563600" cy="5600700"/>
        </p:xfrm>
        <a:graphic xmlns:a="http://schemas.openxmlformats.org/drawingml/2006/main">
          <a:graphicData uri="http://schemas.openxmlformats.org/drawingml/2006/table">
            <a:tbl>
              <a:tblPr firstRow="1" bandRow="0"/>
              <a:tblGrid>
                <a:gridCol w="4762500"/>
                <a:gridCol w="8801100"/>
              </a:tblGrid>
              <a:tr h="622300">
                <a:tc>
                  <a:txBody>
                    <a:bodyPr/>
                    <a:lstStyle/>
                    <a:p>
                      <a:r>
                        <a:rPr sz="2100" b="1">
                          <a:solidFill>
                            <a:srgbClr val="FFFFFF"/>
                          </a:solidFill>
                          <a:latin typeface="Helvetica Neue"/>
                          <a:ea typeface="Helvetica Neue"/>
                          <a:cs typeface="Helvetica Neue"/>
                        </a:rPr>
                        <a:t>Teste</a:t>
                      </a:r>
                    </a:p>
                  </a:txBody>
                  <a:tcPr marL="171450" marR="171450" marT="114300" marB="114300" anchor="ctr">
                    <a:solidFill>
                      <a:srgbClr val="12243A"/>
                    </a:solidFill>
                  </a:tcPr>
                </a:tc>
                <a:tc>
                  <a:txBody>
                    <a:bodyPr/>
                    <a:lstStyle/>
                    <a:p>
                      <a:r>
                        <a:rPr sz="2100" b="1">
                          <a:solidFill>
                            <a:srgbClr val="FFFFFF"/>
                          </a:solidFill>
                          <a:latin typeface="Helvetica Neue"/>
                          <a:ea typeface="Helvetica Neue"/>
                          <a:cs typeface="Helvetica Neue"/>
                        </a:rPr>
                        <a:t>Resultado observado</a:t>
                      </a:r>
                    </a:p>
                  </a:txBody>
                  <a:tcPr marL="171450" marR="171450" marT="114300" marB="114300" anchor="ctr">
                    <a:solidFill>
                      <a:srgbClr val="12243A"/>
                    </a:solidFill>
                  </a:tcPr>
                </a:tc>
              </a:tr>
              <a:tr h="622300">
                <a:tc>
                  <a:txBody>
                    <a:bodyPr/>
                    <a:lstStyle/>
                    <a:p>
                      <a:r>
                        <a:rPr sz="2100">
                          <a:solidFill>
                            <a:srgbClr val="12243A"/>
                          </a:solidFill>
                          <a:latin typeface="Helvetica Neue"/>
                          <a:ea typeface="Helvetica Neue"/>
                          <a:cs typeface="Helvetica Neue"/>
                        </a:rPr>
                        <a:t>0/2 e 1/2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Publicação bloqueada</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2/2 sem comando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Terceiro gate aguardando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Rejeição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Promoção não iniciou</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Correção e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Novo código, preview e zero avais</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Conta no gate errado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GitHub recusou a aprovação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Rerun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reexecução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Versão igual ou antiga</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novo corte</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Comando final na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Tag estável e Release confirmadas</a:t>
                      </a:r>
                    </a:p>
                  </a:txBody>
                  <a:tcPr marL="171450" marR="171450" marT="11430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D1C08E-3E7D-4C68-A4AC-8D0159469413}"/>
              </a:ext>
            </a:extLst>
          </p:cNvPr>
          <p:cNvSpPr>
            <a:spLocks xmlns:a="http://schemas.openxmlformats.org/drawingml/2006/main" noGrp="1"/>
          </p:cNvSpPr>
          <p:nvPr/>
        </p:nvSpPr>
        <p:spPr>
          <a:xfrm xmlns:a="http://schemas.openxmlformats.org/drawingml/2006/main">
            <a:off x="838200" y="7743825"/>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A6076"/>
                </a:solidFill>
                <a:latin typeface="Helvetica Neue"/>
                <a:ea typeface="Helvetica Neue"/>
                <a:cs typeface="Helvetica Neue"/>
              </a:defRPr>
            </a:defPPr>
          </a:lstStyle>
          <a:p xmlns:a="http://schemas.openxmlformats.org/drawingml/2006/main">
            <a:pPr algn="l">
              <a:defRPr sz="1725" b="0">
                <a:solidFill>
                  <a:srgbClr val="4A6076"/>
                </a:solidFill>
                <a:latin typeface="Helvetica Neue"/>
                <a:ea typeface="Helvetica Neue"/>
                <a:cs typeface="Helvetica Neue"/>
              </a:defRPr>
            </a:pPr>
            <a:r>
              <a:rPr sz="1725" b="0">
                <a:solidFill>
                  <a:srgbClr val="4A6076"/>
                </a:solidFill>
                <a:latin typeface="Helvetica Neue"/>
                <a:ea typeface="Helvetica Neue"/>
                <a:cs typeface="Helvetica Neue"/>
              </a:rPr>
              <a:t>Provas: APIs, logs e recibos. Reviews automatizadas por contas autorizadas.</a:t>
            </a:r>
          </a:p>
        </p:txBody>
      </p:sp>
    </p:spTree>
    <p:extLst>
      <p:ext uri="{BB962C8B-B14F-4D97-AF65-F5344CB8AC3E}">
        <p14:creationId xmlns:p14="http://schemas.microsoft.com/office/powerpoint/2010/main" val="2045400318"/>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0E8257-A451-4FB2-A0EB-40FEBEFCAAC9}"/>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Nove cenários offline</a:t>
            </a:r>
          </a:p>
        </p:txBody>
      </p:sp>
      <p:sp>
        <p:nvSpPr>
          <p:cNvPr id="2" name="">
            <a:extLst xmlns:a="http://schemas.openxmlformats.org/drawingml/2006/main">
              <a:ext uri="{FF2B5EF4-FFF2-40B4-BE49-F238E27FC236}">
                <a16:creationId xmlns:a16="http://schemas.microsoft.com/office/drawing/2014/main" id="{F66D3AA5-FA7B-48CB-9B24-7A20CD201079}"/>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10</a:t>
            </a:r>
          </a:p>
        </p:txBody>
      </p:sp>
      <p:graphicFrame>
        <p:nvGraphicFramePr>
          <p:cNvPr id="3" name="">
            <a:extLst xmlns:a="http://schemas.openxmlformats.org/drawingml/2006/main">
              <a:ext uri="{FF2B5EF4-FFF2-40B4-BE49-F238E27FC236}">
                <a16:creationId xmlns:a16="http://schemas.microsoft.com/office/drawing/2014/main" id="{1EC3E667-C5ED-4CD8-8E40-316C0233DECD}"/>
              </a:ext>
            </a:extLst>
          </p:cNvPr>
          <p:cNvGraphicFramePr/>
          <p:nvPr/>
        </p:nvGraphicFramePr>
        <p:xfrm>
          <a:off xmlns:a="http://schemas.openxmlformats.org/drawingml/2006/main" x="838200" y="1685925"/>
          <a:ext xmlns:a="http://schemas.openxmlformats.org/drawingml/2006/main" cx="13563600" cy="5715000"/>
        </p:xfrm>
        <a:graphic xmlns:a="http://schemas.openxmlformats.org/drawingml/2006/main">
          <a:graphicData uri="http://schemas.openxmlformats.org/drawingml/2006/table">
            <a:tbl>
              <a:tblPr firstRow="1" bandRow="0"/>
              <a:tblGrid>
                <a:gridCol w="1905000"/>
                <a:gridCol w="11658600"/>
              </a:tblGrid>
              <a:tr h="571500">
                <a:tc>
                  <a:txBody>
                    <a:bodyPr/>
                    <a:lstStyle/>
                    <a:p>
                      <a:r>
                        <a:rPr sz="1950" b="1">
                          <a:solidFill>
                            <a:srgbClr val="FFFFFF"/>
                          </a:solidFill>
                          <a:latin typeface="Helvetica Neue"/>
                          <a:ea typeface="Helvetica Neue"/>
                          <a:cs typeface="Helvetica Neue"/>
                        </a:rPr>
                        <a:t>Caso</a:t>
                      </a:r>
                    </a:p>
                  </a:txBody>
                  <a:tcPr marL="171450" marR="171450" marT="114300" marB="114300" anchor="ctr">
                    <a:solidFill>
                      <a:srgbClr val="12243A"/>
                    </a:solidFill>
                  </a:tcPr>
                </a:tc>
                <a:tc>
                  <a:txBody>
                    <a:bodyPr/>
                    <a:lstStyle/>
                    <a:p>
                      <a:r>
                        <a:rPr sz="1950" b="1">
                          <a:solidFill>
                            <a:srgbClr val="FFFFFF"/>
                          </a:solidFill>
                          <a:latin typeface="Helvetica Neue"/>
                          <a:ea typeface="Helvetica Neue"/>
                          <a:cs typeface="Helvetica Neue"/>
                        </a:rPr>
                        <a:t>Condição validada localmente</a:t>
                      </a:r>
                    </a:p>
                  </a:txBody>
                  <a:tcPr marL="171450" marR="171450" marT="114300" marB="114300" anchor="ctr">
                    <a:solidFill>
                      <a:srgbClr val="12243A"/>
                    </a:solidFill>
                  </a:tcPr>
                </a:tc>
              </a:tr>
              <a:tr h="571500">
                <a:tc>
                  <a:txBody>
                    <a:bodyPr/>
                    <a:lstStyle/>
                    <a:p>
                      <a:r>
                        <a:rPr sz="1950">
                          <a:solidFill>
                            <a:srgbClr val="12243A"/>
                          </a:solidFill>
                          <a:latin typeface="Helvetica Neue"/>
                          <a:ea typeface="Helvetica Neue"/>
                          <a:cs typeface="Helvetica Neue"/>
                        </a:rPr>
                        <a:t>01</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Aprovações incompletas e comando separado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02</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RC1 rejeitada, correção e RC2 sem herança</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03</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Fonte, relatório ou política divergentes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04</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Tag estável ou Release conflitantes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05</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parcial, resposta perdida e recuperação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06</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Versão, conta, bot ou tentativa inválidos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07</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Atualizações concorrentes do journal</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08</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na confirmação do preview</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09</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Proteções removidas antes ou entre efeitos</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E02FD7A-A9BD-44EC-8D2E-A34964060532}"/>
              </a:ext>
            </a:extLst>
          </p:cNvPr>
          <p:cNvSpPr>
            <a:spLocks xmlns:a="http://schemas.openxmlformats.org/drawingml/2006/main" noGrp="1"/>
          </p:cNvSpPr>
          <p:nvPr/>
        </p:nvSpPr>
        <p:spPr>
          <a:xfrm xmlns:a="http://schemas.openxmlformats.org/drawingml/2006/main">
            <a:off x="838200" y="768667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71"/>
                </a:solidFill>
                <a:latin typeface="Helvetica Neue"/>
                <a:ea typeface="Helvetica Neue"/>
                <a:cs typeface="Helvetica Neue"/>
              </a:defRPr>
            </a:defPPr>
          </a:lstStyle>
          <a:p xmlns:a="http://schemas.openxmlformats.org/drawingml/2006/main">
            <a:pPr algn="l">
              <a:defRPr sz="2025" b="1">
                <a:solidFill>
                  <a:srgbClr val="087F71"/>
                </a:solidFill>
                <a:latin typeface="Helvetica Neue"/>
                <a:ea typeface="Helvetica Neue"/>
                <a:cs typeface="Helvetica Neue"/>
              </a:defRPr>
            </a:pPr>
            <a:r>
              <a:rPr sz="2025" b="1">
                <a:solidFill>
                  <a:srgbClr val="087F71"/>
                </a:solidFill>
                <a:latin typeface="Helvetica Neue"/>
                <a:ea typeface="Helvetica Neue"/>
                <a:cs typeface="Helvetica Neue"/>
              </a:rPr>
              <a:t>9/9 PASS local. No GitHub: 273 testes, Flutter analyze e test passaram.</a:t>
            </a:r>
          </a:p>
        </p:txBody>
      </p:sp>
    </p:spTree>
    <p:extLst>
      <p:ext uri="{BB962C8B-B14F-4D97-AF65-F5344CB8AC3E}">
        <p14:creationId xmlns:p14="http://schemas.microsoft.com/office/powerpoint/2010/main" val="1506686471"/>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AE37633D-B94D-4F1C-B2AF-926B904494BF}"/>
              </a:ext>
            </a:extLst>
          </p:cNvPr>
          <p:cNvCxnSpPr>
            <a:stCxn xmlns:a="http://schemas.openxmlformats.org/drawingml/2006/main" id="5" idx="3"/>
            <a:endCxn xmlns:a="http://schemas.openxmlformats.org/drawingml/2006/main" id="6" idx="1"/>
          </p:cNvCxnSpPr>
          <p:nvPr/>
        </p:nvCxnSpPr>
        <p:spPr>
          <a:xfrm xmlns:a="http://schemas.openxmlformats.org/drawingml/2006/main">
            <a:off x="107823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82D694BC-C344-4B7B-B34D-CFC9025D1047}"/>
              </a:ext>
            </a:extLst>
          </p:cNvPr>
          <p:cNvCxnSpPr>
            <a:stCxn xmlns:a="http://schemas.openxmlformats.org/drawingml/2006/main" id="4" idx="3"/>
            <a:endCxn xmlns:a="http://schemas.openxmlformats.org/drawingml/2006/main" id="5" idx="1"/>
          </p:cNvCxnSpPr>
          <p:nvPr/>
        </p:nvCxnSpPr>
        <p:spPr>
          <a:xfrm xmlns:a="http://schemas.openxmlformats.org/drawingml/2006/main">
            <a:off x="72390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9C2A8BF7-E509-426D-BD5D-5914DF84AAE0}"/>
              </a:ext>
            </a:extLst>
          </p:cNvPr>
          <p:cNvCxnSpPr>
            <a:stCxn xmlns:a="http://schemas.openxmlformats.org/drawingml/2006/main" id="3" idx="3"/>
            <a:endCxn xmlns:a="http://schemas.openxmlformats.org/drawingml/2006/main" id="4" idx="1"/>
          </p:cNvCxnSpPr>
          <p:nvPr/>
        </p:nvCxnSpPr>
        <p:spPr>
          <a:xfrm xmlns:a="http://schemas.openxmlformats.org/drawingml/2006/main">
            <a:off x="36957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9EFF42A9-DEDA-41F6-AF0B-9DF7B4A851E7}"/>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Falha parcial e recuperação</a:t>
            </a:r>
          </a:p>
        </p:txBody>
      </p:sp>
      <p:sp>
        <p:nvSpPr>
          <p:cNvPr id="2" name="">
            <a:extLst xmlns:a="http://schemas.openxmlformats.org/drawingml/2006/main">
              <a:ext uri="{FF2B5EF4-FFF2-40B4-BE49-F238E27FC236}">
                <a16:creationId xmlns:a16="http://schemas.microsoft.com/office/drawing/2014/main" id="{D46945C8-2E26-4FE9-AA23-64CE174D63F4}"/>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64A28970-B779-4722-B6DB-AD94BF0FACAF}"/>
              </a:ext>
            </a:extLst>
          </p:cNvPr>
          <p:cNvSpPr>
            <a:spLocks xmlns:a="http://schemas.openxmlformats.org/drawingml/2006/main" noGrp="1"/>
          </p:cNvSpPr>
          <p:nvPr/>
        </p:nvSpPr>
        <p:spPr>
          <a:xfrm xmlns:a="http://schemas.openxmlformats.org/drawingml/2006/main">
            <a:off x="8382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Intenção salva</a:t>
            </a:r>
          </a:p>
        </p:txBody>
      </p:sp>
      <p:sp>
        <p:nvSpPr>
          <p:cNvPr id="4" name="">
            <a:extLst xmlns:a="http://schemas.openxmlformats.org/drawingml/2006/main">
              <a:ext uri="{FF2B5EF4-FFF2-40B4-BE49-F238E27FC236}">
                <a16:creationId xmlns:a16="http://schemas.microsoft.com/office/drawing/2014/main" id="{33F2F249-A98D-4291-8B0E-F07047C8324E}"/>
              </a:ext>
            </a:extLst>
          </p:cNvPr>
          <p:cNvSpPr>
            <a:spLocks xmlns:a="http://schemas.openxmlformats.org/drawingml/2006/main" noGrp="1"/>
          </p:cNvSpPr>
          <p:nvPr/>
        </p:nvSpPr>
        <p:spPr>
          <a:xfrm xmlns:a="http://schemas.openxmlformats.org/drawingml/2006/main">
            <a:off x="43815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Tag conferida</a:t>
            </a:r>
          </a:p>
        </p:txBody>
      </p:sp>
      <p:sp>
        <p:nvSpPr>
          <p:cNvPr id="5" name="">
            <a:extLst xmlns:a="http://schemas.openxmlformats.org/drawingml/2006/main">
              <a:ext uri="{FF2B5EF4-FFF2-40B4-BE49-F238E27FC236}">
                <a16:creationId xmlns:a16="http://schemas.microsoft.com/office/drawing/2014/main" id="{B6403BA3-43A8-4ACA-949F-F82DE9F4F57D}"/>
              </a:ext>
            </a:extLst>
          </p:cNvPr>
          <p:cNvSpPr>
            <a:spLocks xmlns:a="http://schemas.openxmlformats.org/drawingml/2006/main" noGrp="1"/>
          </p:cNvSpPr>
          <p:nvPr/>
        </p:nvSpPr>
        <p:spPr>
          <a:xfrm xmlns:a="http://schemas.openxmlformats.org/drawingml/2006/main">
            <a:off x="79248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conferida</a:t>
            </a:r>
          </a:p>
        </p:txBody>
      </p:sp>
      <p:sp>
        <p:nvSpPr>
          <p:cNvPr id="6" name="">
            <a:extLst xmlns:a="http://schemas.openxmlformats.org/drawingml/2006/main">
              <a:ext uri="{FF2B5EF4-FFF2-40B4-BE49-F238E27FC236}">
                <a16:creationId xmlns:a16="http://schemas.microsoft.com/office/drawing/2014/main" id="{F3B76DE6-CA34-4841-B24B-7A3B0C9893F1}"/>
              </a:ext>
            </a:extLst>
          </p:cNvPr>
          <p:cNvSpPr>
            <a:spLocks xmlns:a="http://schemas.openxmlformats.org/drawingml/2006/main" noGrp="1"/>
          </p:cNvSpPr>
          <p:nvPr/>
        </p:nvSpPr>
        <p:spPr>
          <a:xfrm xmlns:a="http://schemas.openxmlformats.org/drawingml/2006/main">
            <a:off x="11468100" y="2028825"/>
            <a:ext cx="29337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Recibo concluído</a:t>
            </a:r>
          </a:p>
        </p:txBody>
      </p:sp>
      <p:sp>
        <p:nvSpPr>
          <p:cNvPr id="10" name="">
            <a:extLst xmlns:a="http://schemas.openxmlformats.org/drawingml/2006/main">
              <a:ext uri="{FF2B5EF4-FFF2-40B4-BE49-F238E27FC236}">
                <a16:creationId xmlns:a16="http://schemas.microsoft.com/office/drawing/2014/main" id="{7F8F09A3-1009-47DB-BACB-43CD34DD8B6B}"/>
              </a:ext>
            </a:extLst>
          </p:cNvPr>
          <p:cNvSpPr>
            <a:spLocks xmlns:a="http://schemas.openxmlformats.org/drawingml/2006/main" noGrp="1"/>
          </p:cNvSpPr>
          <p:nvPr/>
        </p:nvSpPr>
        <p:spPr>
          <a:xfrm xmlns:a="http://schemas.openxmlformats.org/drawingml/2006/main">
            <a:off x="838200" y="4000500"/>
            <a:ext cx="6172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Se um efeito falhar</a:t>
            </a:r>
          </a:p>
        </p:txBody>
      </p:sp>
      <p:sp>
        <p:nvSpPr>
          <p:cNvPr id="11" name="">
            <a:extLst xmlns:a="http://schemas.openxmlformats.org/drawingml/2006/main">
              <a:ext uri="{FF2B5EF4-FFF2-40B4-BE49-F238E27FC236}">
                <a16:creationId xmlns:a16="http://schemas.microsoft.com/office/drawing/2014/main" id="{FF337F7F-253E-43B3-9F21-5921BF60D158}"/>
              </a:ext>
            </a:extLst>
          </p:cNvPr>
          <p:cNvSpPr>
            <a:spLocks xmlns:a="http://schemas.openxmlformats.org/drawingml/2006/main" noGrp="1"/>
          </p:cNvSpPr>
          <p:nvPr/>
        </p:nvSpPr>
        <p:spPr>
          <a:xfrm xmlns:a="http://schemas.openxmlformats.org/drawingml/2006/main">
            <a:off x="8382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Preserva o estado parcial.</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Mantém o código aprovado.</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Exige nova autorização para recuperar.</a:t>
            </a:r>
          </a:p>
        </p:txBody>
      </p:sp>
      <p:sp>
        <p:nvSpPr>
          <p:cNvPr id="12" name="">
            <a:extLst xmlns:a="http://schemas.openxmlformats.org/drawingml/2006/main">
              <a:ext uri="{FF2B5EF4-FFF2-40B4-BE49-F238E27FC236}">
                <a16:creationId xmlns:a16="http://schemas.microsoft.com/office/drawing/2014/main" id="{86684622-3827-412D-8F9D-188E4650188D}"/>
              </a:ext>
            </a:extLst>
          </p:cNvPr>
          <p:cNvSpPr>
            <a:spLocks xmlns:a="http://schemas.openxmlformats.org/drawingml/2006/main" noGrp="1"/>
          </p:cNvSpPr>
          <p:nvPr/>
        </p:nvSpPr>
        <p:spPr>
          <a:xfrm xmlns:a="http://schemas.openxmlformats.org/drawingml/2006/main">
            <a:off x="8039100" y="4000500"/>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243A"/>
                </a:solidFill>
                <a:latin typeface="Helvetica Neue"/>
                <a:ea typeface="Helvetica Neue"/>
                <a:cs typeface="Helvetica Neue"/>
              </a:defRPr>
            </a:defPPr>
          </a:lstStyle>
          <a:p xmlns:a="http://schemas.openxmlformats.org/drawingml/2006/main">
            <a:pPr algn="l">
              <a:defRPr sz="2850" b="1">
                <a:solidFill>
                  <a:srgbClr val="12243A"/>
                </a:solidFill>
                <a:latin typeface="Helvetica Neue"/>
                <a:ea typeface="Helvetica Neue"/>
                <a:cs typeface="Helvetica Neue"/>
              </a:defRPr>
            </a:pPr>
            <a:r>
              <a:rPr sz="2850" b="1">
                <a:solidFill>
                  <a:srgbClr val="12243A"/>
                </a:solidFill>
                <a:latin typeface="Helvetica Neue"/>
                <a:ea typeface="Helvetica Neue"/>
                <a:cs typeface="Helvetica Neue"/>
              </a:rPr>
              <a:t>Proteções durante a espera</a:t>
            </a:r>
          </a:p>
        </p:txBody>
      </p:sp>
      <p:sp>
        <p:nvSpPr>
          <p:cNvPr id="13" name="">
            <a:extLst xmlns:a="http://schemas.openxmlformats.org/drawingml/2006/main">
              <a:ext uri="{FF2B5EF4-FFF2-40B4-BE49-F238E27FC236}">
                <a16:creationId xmlns:a16="http://schemas.microsoft.com/office/drawing/2014/main" id="{AA5095D9-BFAF-4BBB-8F74-224805CCB271}"/>
              </a:ext>
            </a:extLst>
          </p:cNvPr>
          <p:cNvSpPr>
            <a:spLocks xmlns:a="http://schemas.openxmlformats.org/drawingml/2006/main" noGrp="1"/>
          </p:cNvSpPr>
          <p:nvPr/>
        </p:nvSpPr>
        <p:spPr>
          <a:xfrm xmlns:a="http://schemas.openxmlformats.org/drawingml/2006/main">
            <a:off x="80391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publicador reconfere as regras.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 runner novo executa os efeitos.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build do app usa permissão de leitura.</a:t>
            </a:r>
          </a:p>
        </p:txBody>
      </p:sp>
      <p:sp>
        <p:nvSpPr>
          <p:cNvPr id="14" name="">
            <a:extLst xmlns:a="http://schemas.openxmlformats.org/drawingml/2006/main">
              <a:ext uri="{FF2B5EF4-FFF2-40B4-BE49-F238E27FC236}">
                <a16:creationId xmlns:a16="http://schemas.microsoft.com/office/drawing/2014/main" id="{C5678AA2-6D99-4438-BDF9-362A1E9A0EAC}"/>
              </a:ext>
            </a:extLst>
          </p:cNvPr>
          <p:cNvSpPr>
            <a:spLocks xmlns:a="http://schemas.openxmlformats.org/drawingml/2006/main" noGrp="1"/>
          </p:cNvSpPr>
          <p:nvPr/>
        </p:nvSpPr>
        <p:spPr>
          <a:xfrm xmlns:a="http://schemas.openxmlformats.org/drawingml/2006/main">
            <a:off x="838200" y="7524750"/>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A6076"/>
                </a:solidFill>
                <a:latin typeface="Helvetica Neue"/>
                <a:ea typeface="Helvetica Neue"/>
                <a:cs typeface="Helvetica Neue"/>
              </a:defRPr>
            </a:defPPr>
          </a:lstStyle>
          <a:p xmlns:a="http://schemas.openxmlformats.org/drawingml/2006/main">
            <a:pPr algn="l">
              <a:defRPr sz="1950" b="0">
                <a:solidFill>
                  <a:srgbClr val="4A6076"/>
                </a:solidFill>
                <a:latin typeface="Helvetica Neue"/>
                <a:ea typeface="Helvetica Neue"/>
                <a:cs typeface="Helvetica Neue"/>
              </a:defRPr>
            </a:pPr>
            <a:r>
              <a:rPr sz="1950" b="0">
                <a:solidFill>
                  <a:srgbClr val="4A6076"/>
                </a:solidFill>
                <a:latin typeface="Helvetica Neue"/>
                <a:ea typeface="Helvetica Neue"/>
                <a:cs typeface="Helvetica Neue"/>
              </a:rPr>
              <a:t>Falhas e recuperação: evidência offline. Promoção real concluiu sem recuperação.</a:t>
            </a:r>
          </a:p>
        </p:txBody>
      </p:sp>
    </p:spTree>
    <p:extLst>
      <p:ext uri="{BB962C8B-B14F-4D97-AF65-F5344CB8AC3E}">
        <p14:creationId xmlns:p14="http://schemas.microsoft.com/office/powerpoint/2010/main" val="2094182584"/>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A546CF2-7CAC-4FBC-BA65-04AD9E30145C}"/>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Jobs vermelhos e prevenção</a:t>
            </a:r>
          </a:p>
        </p:txBody>
      </p:sp>
      <p:sp>
        <p:nvSpPr>
          <p:cNvPr id="2" name="">
            <a:extLst xmlns:a="http://schemas.openxmlformats.org/drawingml/2006/main">
              <a:ext uri="{FF2B5EF4-FFF2-40B4-BE49-F238E27FC236}">
                <a16:creationId xmlns:a16="http://schemas.microsoft.com/office/drawing/2014/main" id="{FC3DBA00-65D5-41C6-82B9-C02732161CFF}"/>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48DB14F4-7366-457D-90CA-FA03CE08E154}"/>
              </a:ext>
            </a:extLst>
          </p:cNvPr>
          <p:cNvSpPr>
            <a:spLocks xmlns:a="http://schemas.openxmlformats.org/drawingml/2006/main" noGrp="1"/>
          </p:cNvSpPr>
          <p:nvPr/>
        </p:nvSpPr>
        <p:spPr>
          <a:xfrm xmlns:a="http://schemas.openxmlformats.org/drawingml/2006/main">
            <a:off x="838200" y="19335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Bloqueios esperados</a:t>
            </a:r>
          </a:p>
        </p:txBody>
      </p:sp>
      <p:sp>
        <p:nvSpPr>
          <p:cNvPr id="4" name="">
            <a:extLst xmlns:a="http://schemas.openxmlformats.org/drawingml/2006/main">
              <a:ext uri="{FF2B5EF4-FFF2-40B4-BE49-F238E27FC236}">
                <a16:creationId xmlns:a16="http://schemas.microsoft.com/office/drawing/2014/main" id="{7EB12C43-A604-42BA-A5CA-142E68536E83}"/>
              </a:ext>
            </a:extLst>
          </p:cNvPr>
          <p:cNvSpPr>
            <a:spLocks xmlns:a="http://schemas.openxmlformats.org/drawingml/2006/main" noGrp="1"/>
          </p:cNvSpPr>
          <p:nvPr/>
        </p:nvSpPr>
        <p:spPr>
          <a:xfrm xmlns:a="http://schemas.openxmlformats.org/drawingml/2006/main">
            <a:off x="838200" y="2790825"/>
            <a:ext cx="62103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RC1 rejeitada</a:t>
            </a:r>
          </a:p>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Reexecução da RC1</a:t>
            </a:r>
          </a:p>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Versão igual à publicada</a:t>
            </a:r>
          </a:p>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Versão anterior à publicada</a:t>
            </a:r>
          </a:p>
        </p:txBody>
      </p:sp>
      <p:sp>
        <p:nvSpPr>
          <p:cNvPr id="5" name="">
            <a:extLst xmlns:a="http://schemas.openxmlformats.org/drawingml/2006/main">
              <a:ext uri="{FF2B5EF4-FFF2-40B4-BE49-F238E27FC236}">
                <a16:creationId xmlns:a16="http://schemas.microsoft.com/office/drawing/2014/main" id="{6FA5EDBB-66EF-4435-812D-CEFC7C80DADB}"/>
              </a:ext>
            </a:extLst>
          </p:cNvPr>
          <p:cNvSpPr>
            <a:spLocks xmlns:a="http://schemas.openxmlformats.org/drawingml/2006/main" noGrp="1"/>
          </p:cNvSpPr>
          <p:nvPr/>
        </p:nvSpPr>
        <p:spPr>
          <a:xfrm xmlns:a="http://schemas.openxmlformats.org/drawingml/2006/main">
            <a:off x="838200" y="5962650"/>
            <a:ext cx="6210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A6076"/>
                </a:solidFill>
                <a:latin typeface="Helvetica Neue"/>
                <a:ea typeface="Helvetica Neue"/>
                <a:cs typeface="Helvetica Neue"/>
              </a:defRPr>
            </a:defPPr>
          </a:lstStyle>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A recusa preservou a versão publicada.</a:t>
            </a:r>
          </a:p>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Conta errada: a API recusou o aval.</a:t>
            </a:r>
          </a:p>
        </p:txBody>
      </p:sp>
      <p:sp>
        <p:nvSpPr>
          <p:cNvPr id="6" name="">
            <a:extLst xmlns:a="http://schemas.openxmlformats.org/drawingml/2006/main">
              <a:ext uri="{FF2B5EF4-FFF2-40B4-BE49-F238E27FC236}">
                <a16:creationId xmlns:a16="http://schemas.microsoft.com/office/drawing/2014/main" id="{E0F8D4A2-506B-48F0-8E34-55CAF8A7BCD6}"/>
              </a:ext>
            </a:extLst>
          </p:cNvPr>
          <p:cNvSpPr>
            <a:spLocks xmlns:a="http://schemas.openxmlformats.org/drawingml/2006/main" noGrp="1"/>
          </p:cNvSpPr>
          <p:nvPr/>
        </p:nvSpPr>
        <p:spPr>
          <a:xfrm xmlns:a="http://schemas.openxmlformats.org/drawingml/2006/main">
            <a:off x="8039100" y="193357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F71"/>
                </a:solidFill>
                <a:latin typeface="Helvetica Neue"/>
                <a:ea typeface="Helvetica Neue"/>
                <a:cs typeface="Helvetica Neue"/>
              </a:defRPr>
            </a:defPPr>
          </a:lstStyle>
          <a:p xmlns:a="http://schemas.openxmlformats.org/drawingml/2006/main">
            <a:pPr algn="l">
              <a:defRPr sz="2850" b="1">
                <a:solidFill>
                  <a:srgbClr val="087F71"/>
                </a:solidFill>
                <a:latin typeface="Helvetica Neue"/>
                <a:ea typeface="Helvetica Neue"/>
                <a:cs typeface="Helvetica Neue"/>
              </a:defRPr>
            </a:pPr>
            <a:r>
              <a:rPr sz="2850" b="1">
                <a:solidFill>
                  <a:srgbClr val="087F71"/>
                </a:solidFill>
                <a:latin typeface="Helvetica Neue"/>
                <a:ea typeface="Helvetica Neue"/>
                <a:cs typeface="Helvetica Neue"/>
              </a:rPr>
              <a:t>Erros corrigidos</a:t>
            </a:r>
          </a:p>
        </p:txBody>
      </p:sp>
      <p:sp>
        <p:nvSpPr>
          <p:cNvPr id="7" name="">
            <a:extLst xmlns:a="http://schemas.openxmlformats.org/drawingml/2006/main">
              <a:ext uri="{FF2B5EF4-FFF2-40B4-BE49-F238E27FC236}">
                <a16:creationId xmlns:a16="http://schemas.microsoft.com/office/drawing/2014/main" id="{5802AC58-ABB7-42A0-9B29-0CD9653313CC}"/>
              </a:ext>
            </a:extLst>
          </p:cNvPr>
          <p:cNvSpPr>
            <a:spLocks xmlns:a="http://schemas.openxmlformats.org/drawingml/2006/main" noGrp="1"/>
          </p:cNvSpPr>
          <p:nvPr/>
        </p:nvSpPr>
        <p:spPr>
          <a:xfrm xmlns:a="http://schemas.openxmlformats.org/drawingml/2006/main">
            <a:off x="8039100" y="2800350"/>
            <a:ext cx="636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243A"/>
                </a:solidFill>
                <a:latin typeface="Helvetica Neue"/>
                <a:ea typeface="Helvetica Neue"/>
                <a:cs typeface="Helvetica Neue"/>
              </a:defRPr>
            </a:defPPr>
          </a:lstStyle>
          <a:p xmlns:a="http://schemas.openxmlformats.org/drawingml/2006/main">
            <a:pPr algn="l">
              <a:defRPr sz="2325" b="1">
                <a:solidFill>
                  <a:srgbClr val="12243A"/>
                </a:solidFill>
                <a:latin typeface="Helvetica Neue"/>
                <a:ea typeface="Helvetica Neue"/>
                <a:cs typeface="Helvetica Neue"/>
              </a:defRPr>
            </a:pPr>
            <a:r>
              <a:rPr sz="2325" b="1">
                <a:solidFill>
                  <a:srgbClr val="12243A"/>
                </a:solidFill>
                <a:latin typeface="Helvetica Neue"/>
                <a:ea typeface="Helvetica Neue"/>
                <a:cs typeface="Helvetica Neue"/>
              </a:rPr>
              <a:t>Configuração rígida</a:t>
            </a:r>
          </a:p>
        </p:txBody>
      </p:sp>
      <p:sp>
        <p:nvSpPr>
          <p:cNvPr id="8" name="">
            <a:extLst xmlns:a="http://schemas.openxmlformats.org/drawingml/2006/main">
              <a:ext uri="{FF2B5EF4-FFF2-40B4-BE49-F238E27FC236}">
                <a16:creationId xmlns:a16="http://schemas.microsoft.com/office/drawing/2014/main" id="{ACBA4F7A-8154-471A-88DF-0FCD45D4AA0B}"/>
              </a:ext>
            </a:extLst>
          </p:cNvPr>
          <p:cNvSpPr>
            <a:spLocks xmlns:a="http://schemas.openxmlformats.org/drawingml/2006/main" noGrp="1"/>
          </p:cNvSpPr>
          <p:nvPr/>
        </p:nvSpPr>
        <p:spPr>
          <a:xfrm xmlns:a="http://schemas.openxmlformats.org/drawingml/2006/main">
            <a:off x="8039100" y="3314700"/>
            <a:ext cx="6362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Normalização segura e cinco testes.</a:t>
            </a:r>
          </a:p>
        </p:txBody>
      </p:sp>
      <p:sp>
        <p:nvSpPr>
          <p:cNvPr id="9" name="">
            <a:extLst xmlns:a="http://schemas.openxmlformats.org/drawingml/2006/main">
              <a:ext uri="{FF2B5EF4-FFF2-40B4-BE49-F238E27FC236}">
                <a16:creationId xmlns:a16="http://schemas.microsoft.com/office/drawing/2014/main" id="{9B4D0979-CACA-4CA3-90B7-DC741CB63BDE}"/>
              </a:ext>
            </a:extLst>
          </p:cNvPr>
          <p:cNvSpPr>
            <a:spLocks xmlns:a="http://schemas.openxmlformats.org/drawingml/2006/main" noGrp="1"/>
          </p:cNvSpPr>
          <p:nvPr/>
        </p:nvSpPr>
        <p:spPr>
          <a:xfrm xmlns:a="http://schemas.openxmlformats.org/drawingml/2006/main">
            <a:off x="8039100" y="4162425"/>
            <a:ext cx="636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243A"/>
                </a:solidFill>
                <a:latin typeface="Helvetica Neue"/>
                <a:ea typeface="Helvetica Neue"/>
                <a:cs typeface="Helvetica Neue"/>
              </a:defRPr>
            </a:defPPr>
          </a:lstStyle>
          <a:p xmlns:a="http://schemas.openxmlformats.org/drawingml/2006/main">
            <a:pPr algn="l">
              <a:defRPr sz="2325" b="1">
                <a:solidFill>
                  <a:srgbClr val="12243A"/>
                </a:solidFill>
                <a:latin typeface="Helvetica Neue"/>
                <a:ea typeface="Helvetica Neue"/>
                <a:cs typeface="Helvetica Neue"/>
              </a:defRPr>
            </a:pPr>
            <a:r>
              <a:rPr sz="2325" b="1">
                <a:solidFill>
                  <a:srgbClr val="12243A"/>
                </a:solidFill>
                <a:latin typeface="Helvetica Neue"/>
                <a:ea typeface="Helvetica Neue"/>
                <a:cs typeface="Helvetica Neue"/>
              </a:rPr>
              <a:t>Proteções após a espera</a:t>
            </a:r>
          </a:p>
        </p:txBody>
      </p:sp>
      <p:sp>
        <p:nvSpPr>
          <p:cNvPr id="10" name="">
            <a:extLst xmlns:a="http://schemas.openxmlformats.org/drawingml/2006/main">
              <a:ext uri="{FF2B5EF4-FFF2-40B4-BE49-F238E27FC236}">
                <a16:creationId xmlns:a16="http://schemas.microsoft.com/office/drawing/2014/main" id="{BAADE72D-0C29-44CF-BE59-B910C6328064}"/>
              </a:ext>
            </a:extLst>
          </p:cNvPr>
          <p:cNvSpPr>
            <a:spLocks xmlns:a="http://schemas.openxmlformats.org/drawingml/2006/main" noGrp="1"/>
          </p:cNvSpPr>
          <p:nvPr/>
        </p:nvSpPr>
        <p:spPr>
          <a:xfrm xmlns:a="http://schemas.openxmlformats.org/drawingml/2006/main">
            <a:off x="8039100" y="4676775"/>
            <a:ext cx="6362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Reconferência antes dos efeitos.</a:t>
            </a:r>
          </a:p>
        </p:txBody>
      </p:sp>
      <p:sp>
        <p:nvSpPr>
          <p:cNvPr id="11" name="">
            <a:extLst xmlns:a="http://schemas.openxmlformats.org/drawingml/2006/main">
              <a:ext uri="{FF2B5EF4-FFF2-40B4-BE49-F238E27FC236}">
                <a16:creationId xmlns:a16="http://schemas.microsoft.com/office/drawing/2014/main" id="{663FF363-3223-46F9-8133-C890C83F1355}"/>
              </a:ext>
            </a:extLst>
          </p:cNvPr>
          <p:cNvSpPr>
            <a:spLocks xmlns:a="http://schemas.openxmlformats.org/drawingml/2006/main" noGrp="1"/>
          </p:cNvSpPr>
          <p:nvPr/>
        </p:nvSpPr>
        <p:spPr>
          <a:xfrm xmlns:a="http://schemas.openxmlformats.org/drawingml/2006/main">
            <a:off x="8039100" y="5524500"/>
            <a:ext cx="636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243A"/>
                </a:solidFill>
                <a:latin typeface="Helvetica Neue"/>
                <a:ea typeface="Helvetica Neue"/>
                <a:cs typeface="Helvetica Neue"/>
              </a:defRPr>
            </a:defPPr>
          </a:lstStyle>
          <a:p xmlns:a="http://schemas.openxmlformats.org/drawingml/2006/main">
            <a:pPr algn="l">
              <a:defRPr sz="2325" b="1">
                <a:solidFill>
                  <a:srgbClr val="12243A"/>
                </a:solidFill>
                <a:latin typeface="Helvetica Neue"/>
                <a:ea typeface="Helvetica Neue"/>
                <a:cs typeface="Helvetica Neue"/>
              </a:defRPr>
            </a:pPr>
            <a:r>
              <a:rPr sz="2325" b="1">
                <a:solidFill>
                  <a:srgbClr val="12243A"/>
                </a:solidFill>
                <a:latin typeface="Helvetica Neue"/>
                <a:ea typeface="Helvetica Neue"/>
                <a:cs typeface="Helvetica Neue"/>
              </a:rPr>
              <a:t>Coleta e leitura das evidências</a:t>
            </a:r>
          </a:p>
        </p:txBody>
      </p:sp>
      <p:sp>
        <p:nvSpPr>
          <p:cNvPr id="12" name="">
            <a:extLst xmlns:a="http://schemas.openxmlformats.org/drawingml/2006/main">
              <a:ext uri="{FF2B5EF4-FFF2-40B4-BE49-F238E27FC236}">
                <a16:creationId xmlns:a16="http://schemas.microsoft.com/office/drawing/2014/main" id="{B6135214-B596-4BBC-A006-213A2797B553}"/>
              </a:ext>
            </a:extLst>
          </p:cNvPr>
          <p:cNvSpPr>
            <a:spLocks xmlns:a="http://schemas.openxmlformats.org/drawingml/2006/main" noGrp="1"/>
          </p:cNvSpPr>
          <p:nvPr/>
        </p:nvSpPr>
        <p:spPr>
          <a:xfrm xmlns:a="http://schemas.openxmlformats.org/drawingml/2006/main">
            <a:off x="8039100" y="6038850"/>
            <a:ext cx="63627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JSON normalizado e prova terminal.</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Logs parciais continuam preservados.</a:t>
            </a:r>
          </a:p>
        </p:txBody>
      </p:sp>
      <p:sp>
        <p:nvSpPr>
          <p:cNvPr id="13" name="">
            <a:extLst xmlns:a="http://schemas.openxmlformats.org/drawingml/2006/main">
              <a:ext uri="{FF2B5EF4-FFF2-40B4-BE49-F238E27FC236}">
                <a16:creationId xmlns:a16="http://schemas.microsoft.com/office/drawing/2014/main" id="{62251E7A-F864-447E-8A1C-F12948DF8BD5}"/>
              </a:ext>
            </a:extLst>
          </p:cNvPr>
          <p:cNvSpPr>
            <a:spLocks xmlns:a="http://schemas.openxmlformats.org/drawingml/2006/main" noGrp="1"/>
          </p:cNvSpPr>
          <p:nvPr/>
        </p:nvSpPr>
        <p:spPr>
          <a:xfrm xmlns:a="http://schemas.openxmlformats.org/drawingml/2006/main">
            <a:off x="838200" y="7553325"/>
            <a:ext cx="13335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5FCC"/>
                </a:solidFill>
                <a:latin typeface="Helvetica Neue"/>
                <a:ea typeface="Helvetica Neue"/>
                <a:cs typeface="Helvetica Neue"/>
              </a:defRPr>
            </a:defPPr>
          </a:lstStyle>
          <a:p xmlns:a="http://schemas.openxmlformats.org/drawingml/2006/main">
            <a:pPr algn="l">
              <a:defRPr sz="1950" b="1">
                <a:solidFill>
                  <a:srgbClr val="165FCC"/>
                </a:solidFill>
                <a:latin typeface="Helvetica Neue"/>
                <a:ea typeface="Helvetica Neue"/>
                <a:cs typeface="Helvetica Neue"/>
              </a:defRPr>
            </a:pPr>
            <a:r>
              <a:rPr sz="1950" b="1">
                <a:solidFill>
                  <a:srgbClr val="165FCC"/>
                </a:solidFill>
                <a:latin typeface="Helvetica Neue"/>
                <a:ea typeface="Helvetica Neue"/>
                <a:cs typeface="Helvetica Neue"/>
              </a:rPr>
              <a:t>Próximo ensaio: pré-check de versão e permissões, com coleta de evidências conferida.</a:t>
            </a:r>
          </a:p>
        </p:txBody>
      </p:sp>
    </p:spTree>
    <p:extLst>
      <p:ext uri="{BB962C8B-B14F-4D97-AF65-F5344CB8AC3E}">
        <p14:creationId xmlns:p14="http://schemas.microsoft.com/office/powerpoint/2010/main" val="1815946641"/>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46C602-5A48-403D-A6DB-60C8297690D9}"/>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Aplicação ao Amulets</a:t>
            </a:r>
          </a:p>
        </p:txBody>
      </p:sp>
      <p:sp>
        <p:nvSpPr>
          <p:cNvPr id="2" name="">
            <a:extLst xmlns:a="http://schemas.openxmlformats.org/drawingml/2006/main">
              <a:ext uri="{FF2B5EF4-FFF2-40B4-BE49-F238E27FC236}">
                <a16:creationId xmlns:a16="http://schemas.microsoft.com/office/drawing/2014/main" id="{AC7E936C-7DF8-4749-A4FA-B60C333FE4D8}"/>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6687E2DD-ED62-4BF5-B912-D07DCE257F9E}"/>
              </a:ext>
            </a:extLst>
          </p:cNvPr>
          <p:cNvSpPr>
            <a:spLocks xmlns:a="http://schemas.openxmlformats.org/drawingml/2006/main" noGrp="1"/>
          </p:cNvSpPr>
          <p:nvPr/>
        </p:nvSpPr>
        <p:spPr>
          <a:xfrm xmlns:a="http://schemas.openxmlformats.org/drawingml/2006/main">
            <a:off x="838200" y="195262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Política de aprovação</a:t>
            </a:r>
          </a:p>
        </p:txBody>
      </p:sp>
      <p:sp>
        <p:nvSpPr>
          <p:cNvPr id="4" name="">
            <a:extLst xmlns:a="http://schemas.openxmlformats.org/drawingml/2006/main">
              <a:ext uri="{FF2B5EF4-FFF2-40B4-BE49-F238E27FC236}">
                <a16:creationId xmlns:a16="http://schemas.microsoft.com/office/drawing/2014/main" id="{FDC80454-7518-4C37-8E0E-4EF1B66BFC39}"/>
              </a:ext>
            </a:extLst>
          </p:cNvPr>
          <p:cNvSpPr>
            <a:spLocks xmlns:a="http://schemas.openxmlformats.org/drawingml/2006/main" noGrp="1"/>
          </p:cNvSpPr>
          <p:nvPr/>
        </p:nvSpPr>
        <p:spPr>
          <a:xfrm xmlns:a="http://schemas.openxmlformats.org/drawingml/2006/main">
            <a:off x="838200" y="279082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Duas pessoas aprovam a mesma RC.</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Uma delas autoriza o comando final.</a:t>
            </a:r>
          </a:p>
        </p:txBody>
      </p:sp>
      <p:sp>
        <p:nvSpPr>
          <p:cNvPr id="5" name="">
            <a:extLst xmlns:a="http://schemas.openxmlformats.org/drawingml/2006/main">
              <a:ext uri="{FF2B5EF4-FFF2-40B4-BE49-F238E27FC236}">
                <a16:creationId xmlns:a16="http://schemas.microsoft.com/office/drawing/2014/main" id="{CEF95612-1A49-426B-9CD9-805D056DF47D}"/>
              </a:ext>
            </a:extLst>
          </p:cNvPr>
          <p:cNvSpPr>
            <a:spLocks xmlns:a="http://schemas.openxmlformats.org/drawingml/2006/main" noGrp="1"/>
          </p:cNvSpPr>
          <p:nvPr/>
        </p:nvSpPr>
        <p:spPr>
          <a:xfrm xmlns:a="http://schemas.openxmlformats.org/drawingml/2006/main">
            <a:off x="838200" y="463867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Histórico preservado</a:t>
            </a:r>
          </a:p>
        </p:txBody>
      </p:sp>
      <p:sp>
        <p:nvSpPr>
          <p:cNvPr id="6" name="">
            <a:extLst xmlns:a="http://schemas.openxmlformats.org/drawingml/2006/main">
              <a:ext uri="{FF2B5EF4-FFF2-40B4-BE49-F238E27FC236}">
                <a16:creationId xmlns:a16="http://schemas.microsoft.com/office/drawing/2014/main" id="{19C11524-91FB-4785-AD7E-013BF66D9CDB}"/>
              </a:ext>
            </a:extLst>
          </p:cNvPr>
          <p:cNvSpPr>
            <a:spLocks xmlns:a="http://schemas.openxmlformats.org/drawingml/2006/main" noGrp="1"/>
          </p:cNvSpPr>
          <p:nvPr/>
        </p:nvSpPr>
        <p:spPr>
          <a:xfrm xmlns:a="http://schemas.openxmlformats.org/drawingml/2006/main">
            <a:off x="838200" y="547687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Correção passa pela release e main.</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Nova RC exige preview e novos avais.</a:t>
            </a:r>
          </a:p>
        </p:txBody>
      </p:sp>
      <p:sp>
        <p:nvSpPr>
          <p:cNvPr id="7" name="">
            <a:extLst xmlns:a="http://schemas.openxmlformats.org/drawingml/2006/main">
              <a:ext uri="{FF2B5EF4-FFF2-40B4-BE49-F238E27FC236}">
                <a16:creationId xmlns:a16="http://schemas.microsoft.com/office/drawing/2014/main" id="{144AB98D-B1FD-41EA-9767-C908FE7F1FE6}"/>
              </a:ext>
            </a:extLst>
          </p:cNvPr>
          <p:cNvSpPr>
            <a:spLocks xmlns:a="http://schemas.openxmlformats.org/drawingml/2006/main" noGrp="1"/>
          </p:cNvSpPr>
          <p:nvPr/>
        </p:nvSpPr>
        <p:spPr>
          <a:xfrm xmlns:a="http://schemas.openxmlformats.org/drawingml/2006/main">
            <a:off x="8039100" y="195262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Evidências por resultado</a:t>
            </a:r>
          </a:p>
        </p:txBody>
      </p:sp>
      <p:sp>
        <p:nvSpPr>
          <p:cNvPr id="8" name="">
            <a:extLst xmlns:a="http://schemas.openxmlformats.org/drawingml/2006/main">
              <a:ext uri="{FF2B5EF4-FFF2-40B4-BE49-F238E27FC236}">
                <a16:creationId xmlns:a16="http://schemas.microsoft.com/office/drawing/2014/main" id="{B57CD536-E0A0-4F1A-9659-08D440EB1654}"/>
              </a:ext>
            </a:extLst>
          </p:cNvPr>
          <p:cNvSpPr>
            <a:spLocks xmlns:a="http://schemas.openxmlformats.org/drawingml/2006/main" noGrp="1"/>
          </p:cNvSpPr>
          <p:nvPr/>
        </p:nvSpPr>
        <p:spPr>
          <a:xfrm xmlns:a="http://schemas.openxmlformats.org/drawingml/2006/main">
            <a:off x="8039100" y="279082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Logs, reviews, GETs e recibos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mostram exatamente o que aconteceu.</a:t>
            </a:r>
          </a:p>
        </p:txBody>
      </p:sp>
      <p:sp>
        <p:nvSpPr>
          <p:cNvPr id="9" name="">
            <a:extLst xmlns:a="http://schemas.openxmlformats.org/drawingml/2006/main">
              <a:ext uri="{FF2B5EF4-FFF2-40B4-BE49-F238E27FC236}">
                <a16:creationId xmlns:a16="http://schemas.microsoft.com/office/drawing/2014/main" id="{4E1DE616-DAD8-45EF-9DB4-F8AA49F2CC97}"/>
              </a:ext>
            </a:extLst>
          </p:cNvPr>
          <p:cNvSpPr>
            <a:spLocks xmlns:a="http://schemas.openxmlformats.org/drawingml/2006/main" noGrp="1"/>
          </p:cNvSpPr>
          <p:nvPr/>
        </p:nvSpPr>
        <p:spPr>
          <a:xfrm xmlns:a="http://schemas.openxmlformats.org/drawingml/2006/main">
            <a:off x="8039100" y="463867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65FCC"/>
                </a:solidFill>
                <a:latin typeface="Helvetica Neue"/>
                <a:ea typeface="Helvetica Neue"/>
                <a:cs typeface="Helvetica Neue"/>
              </a:defRPr>
            </a:defPPr>
          </a:lstStyle>
          <a:p xmlns:a="http://schemas.openxmlformats.org/drawingml/2006/main">
            <a:pPr algn="l">
              <a:defRPr sz="2775" b="1">
                <a:solidFill>
                  <a:srgbClr val="165FCC"/>
                </a:solidFill>
                <a:latin typeface="Helvetica Neue"/>
                <a:ea typeface="Helvetica Neue"/>
                <a:cs typeface="Helvetica Neue"/>
              </a:defRPr>
            </a:pPr>
            <a:r>
              <a:rPr sz="2775" b="1">
                <a:solidFill>
                  <a:srgbClr val="165FCC"/>
                </a:solidFill>
                <a:latin typeface="Helvetica Neue"/>
                <a:ea typeface="Helvetica Neue"/>
                <a:cs typeface="Helvetica Neue"/>
              </a:rPr>
              <a:t>Aceite mobile separado</a:t>
            </a:r>
          </a:p>
        </p:txBody>
      </p:sp>
      <p:sp>
        <p:nvSpPr>
          <p:cNvPr id="10" name="">
            <a:extLst xmlns:a="http://schemas.openxmlformats.org/drawingml/2006/main">
              <a:ext uri="{FF2B5EF4-FFF2-40B4-BE49-F238E27FC236}">
                <a16:creationId xmlns:a16="http://schemas.microsoft.com/office/drawing/2014/main" id="{08D21DF7-27A4-45B8-9066-D6FE2E1F42EA}"/>
              </a:ext>
            </a:extLst>
          </p:cNvPr>
          <p:cNvSpPr>
            <a:spLocks xmlns:a="http://schemas.openxmlformats.org/drawingml/2006/main" noGrp="1"/>
          </p:cNvSpPr>
          <p:nvPr/>
        </p:nvSpPr>
        <p:spPr>
          <a:xfrm xmlns:a="http://schemas.openxmlformats.org/drawingml/2006/main">
            <a:off x="8039100" y="547687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Base exata, build e destino corretos.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Distribuição e uso no dispositivo.</a:t>
            </a:r>
          </a:p>
        </p:txBody>
      </p:sp>
      <p:sp>
        <p:nvSpPr>
          <p:cNvPr id="11" name="">
            <a:extLst xmlns:a="http://schemas.openxmlformats.org/drawingml/2006/main">
              <a:ext uri="{FF2B5EF4-FFF2-40B4-BE49-F238E27FC236}">
                <a16:creationId xmlns:a16="http://schemas.microsoft.com/office/drawing/2014/main" id="{6807AD1D-63A2-4258-80C6-A588A01246BD}"/>
              </a:ext>
            </a:extLst>
          </p:cNvPr>
          <p:cNvSpPr>
            <a:spLocks xmlns:a="http://schemas.openxmlformats.org/drawingml/2006/main" noGrp="1"/>
          </p:cNvSpPr>
          <p:nvPr/>
        </p:nvSpPr>
        <p:spPr>
          <a:xfrm xmlns:a="http://schemas.openxmlformats.org/drawingml/2006/main">
            <a:off x="838200" y="7524750"/>
            <a:ext cx="1323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5FCC"/>
                </a:solidFill>
                <a:latin typeface="Helvetica Neue"/>
                <a:ea typeface="Helvetica Neue"/>
                <a:cs typeface="Helvetica Neue"/>
              </a:defRPr>
            </a:defPPr>
          </a:lstStyle>
          <a:p xmlns:a="http://schemas.openxmlformats.org/drawingml/2006/main">
            <a:pPr algn="l">
              <a:defRPr sz="2025" b="1">
                <a:solidFill>
                  <a:srgbClr val="165FCC"/>
                </a:solidFill>
                <a:latin typeface="Helvetica Neue"/>
                <a:ea typeface="Helvetica Neue"/>
                <a:cs typeface="Helvetica Neue"/>
              </a:defRPr>
            </a:pPr>
            <a:r>
              <a:rPr sz="2025" b="1">
                <a:solidFill>
                  <a:srgbClr val="165FCC"/>
                </a:solidFill>
                <a:latin typeface="Helvetica Neue"/>
                <a:ea typeface="Helvetica Neue"/>
                <a:cs typeface="Helvetica Neue"/>
              </a:rPr>
              <a:t>Próxima validação: adaptador mobile autorizado e prova de entrega por plataforma.</a:t>
            </a:r>
          </a:p>
        </p:txBody>
      </p:sp>
    </p:spTree>
    <p:extLst>
      <p:ext uri="{BB962C8B-B14F-4D97-AF65-F5344CB8AC3E}">
        <p14:creationId xmlns:p14="http://schemas.microsoft.com/office/powerpoint/2010/main" val="20720506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2026-10-08T22:30:38.9310000Z</dcterms:created>
  <dcterms:modified xsi:type="dcterms:W3CDTF">2026-10-08T22:30:38.9310000Z</dcterms:modified>
</coreProperties>
</file>